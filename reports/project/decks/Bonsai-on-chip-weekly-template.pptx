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95b203c1b74565" /><Relationship Type="http://schemas.openxmlformats.org/officeDocument/2006/relationships/extended-properties" Target="/docProps/app.xml" Id="R2e9a9007a4344ce2" /><Relationship Type="http://schemas.openxmlformats.org/officeDocument/2006/relationships/officeDocument" Target="/ppt/presentation.xml" Id="R628121f7108e40ab" /></Relationships>
</file>

<file path=ppt/presentation.xml><?xml version="1.0" encoding="utf-8"?>
<p:presentation xmlns:p="http://schemas.openxmlformats.org/presentationml/2006/main">
  <p:sldMasterIdLst>
    <p:sldMasterId xmlns:r="http://schemas.openxmlformats.org/officeDocument/2006/relationships" id="2147483648" r:id="Rad0d45040012455f"/>
  </p:sldMasterIdLst>
  <p:notesMasterIdLst>
    <p:notesMasterId xmlns:r="http://schemas.openxmlformats.org/officeDocument/2006/relationships" r:id="Rb3c5ad930bf04232"/>
  </p:notesMasterIdLst>
  <p:sldIdLst>
    <p:sldId xmlns:r="http://schemas.openxmlformats.org/officeDocument/2006/relationships" id="256" r:id="Rfd937dd0b67243ff"/>
    <p:sldId xmlns:r="http://schemas.openxmlformats.org/officeDocument/2006/relationships" id="257" r:id="R1e6ec8de8dbe47ed"/>
    <p:sldId xmlns:r="http://schemas.openxmlformats.org/officeDocument/2006/relationships" id="258" r:id="R10f1774f2b7341be"/>
    <p:sldId xmlns:r="http://schemas.openxmlformats.org/officeDocument/2006/relationships" id="259" r:id="Re6c7df446a984150"/>
    <p:sldId xmlns:r="http://schemas.openxmlformats.org/officeDocument/2006/relationships" id="260" r:id="R2edff2d2d40d43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d7a8b00fa04249" /><Relationship Type="http://schemas.openxmlformats.org/officeDocument/2006/relationships/slideMaster" Target="/ppt/slideMasters/slideMaster1.xml" Id="Rad0d45040012455f" /><Relationship Type="http://schemas.openxmlformats.org/officeDocument/2006/relationships/notesMaster" Target="/ppt/notesMasters/notesMaster1.xml" Id="Rb3c5ad930bf04232" /><Relationship Type="http://schemas.openxmlformats.org/officeDocument/2006/relationships/presProps" Target="/ppt/presProps.xml" Id="R09ad3a58a7e24eab" /><Relationship Type="http://schemas.openxmlformats.org/officeDocument/2006/relationships/tableStyles" Target="/ppt/tableStyles.xml" Id="Rebc3b4b7b0d3415f" /><Relationship Type="http://schemas.openxmlformats.org/officeDocument/2006/relationships/slide" Target="/ppt/slides/slide1.xml" Id="Rfd937dd0b67243ff" /><Relationship Type="http://schemas.openxmlformats.org/officeDocument/2006/relationships/slide" Target="/ppt/slides/slide2.xml" Id="R1e6ec8de8dbe47ed" /><Relationship Type="http://schemas.openxmlformats.org/officeDocument/2006/relationships/slide" Target="/ppt/slides/slide3.xml" Id="R10f1774f2b7341be" /><Relationship Type="http://schemas.openxmlformats.org/officeDocument/2006/relationships/slide" Target="/ppt/slides/slide4.xml" Id="Re6c7df446a984150" /><Relationship Type="http://schemas.openxmlformats.org/officeDocument/2006/relationships/slide" Target="/ppt/slides/slide5.xml" Id="R2edff2d2d40d43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4d6e6da35242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f3c7db08904a06" /><Relationship Type="http://schemas.openxmlformats.org/officeDocument/2006/relationships/notesMaster" Target="/ppt/notesMasters/notesMaster1.xml" Id="R1723eceec56a42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608518e6ad426d" /><Relationship Type="http://schemas.openxmlformats.org/officeDocument/2006/relationships/notesMaster" Target="/ppt/notesMasters/notesMaster1.xml" Id="Rd61dae7286d044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4265d7b8704ca2" /><Relationship Type="http://schemas.openxmlformats.org/officeDocument/2006/relationships/notesMaster" Target="/ppt/notesMasters/notesMaster1.xml" Id="R94415b4b0c6d42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50b2e1c38343bc" /><Relationship Type="http://schemas.openxmlformats.org/officeDocument/2006/relationships/notesMaster" Target="/ppt/notesMasters/notesMaster1.xml" Id="Rf045bfd87c0d44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2d6a557fe140fb" /><Relationship Type="http://schemas.openxmlformats.org/officeDocument/2006/relationships/notesMaster" Target="/ppt/notesMasters/notesMaster1.xml" Id="R5e377cb553064a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Weekly template. Replace every bracketed field. Use the reporting date plus the exact status cutoff time. State the most important verified change and the open acceptance gate. Keep completion claims scoped to their evidence class. Do not carry old numbers into a new week without checking their source. Accountable owner: [name]. Project and issue links: [URLs].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row, link the PR, immutable source revision and attached evidence report. Separate native simulation, FPGA-target simulation and actual physical FPGA. Show fresh and cached test counts separately when relevant. Include expected-error tests without implying they are successful numerical cases. Cite exact model identity and input image hash when applicable. Evidence links: [URLs].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Never equate simulator cycles/sec with a physical FPGA clock. Record simulated cycles, wall time, backend version, host, source hash, repeated-run method and exactly what work the wall time includes. State whether clock frequency is merely a constraint, a modeled clock or supported by final routed timing. Timing sources: [URLs]. Rate calculation and raw report: [URLs].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 the exact design document revision. Label assumptions, estimates and proposed future behavior. Distinguish implemented DDR, proposed HBM and proposed ASIC ROM where relevant. Include capacity, addressing, coherency and reset implications before calling a design ready. A design decision does not authorize implementation unless the issue scope says so. Design sources: [URLs].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issue links and named accountable owners. Keep planned dates distinct from a completion forecast. For each issue, name the exact required PR, reproducible simulation, physical FPGA evidence and attached report. If an evidence class is not applicable, record the explicit scope decision rather than silently omitting it. Links: [issue, PR and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5a5c1dc3c24b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16044cf25e407e" /><Relationship Type="http://schemas.openxmlformats.org/officeDocument/2006/relationships/slideLayout" Target="/ppt/slideLayouts/slideLayout1.xml" Id="R2ed6de89ff7749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d6de89ff7749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38b29cceb244be" /><Relationship Type="http://schemas.openxmlformats.org/officeDocument/2006/relationships/notesSlide" Target="/ppt/notesSlides/notesSlide1.xml" Id="R2d7af807492546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31ce0715294f76" /><Relationship Type="http://schemas.openxmlformats.org/officeDocument/2006/relationships/notesSlide" Target="/ppt/notesSlides/notesSlide2.xml" Id="Rb21df3fb7e7e4b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bac25fb43e41c0" /><Relationship Type="http://schemas.openxmlformats.org/officeDocument/2006/relationships/notesSlide" Target="/ppt/notesSlides/notesSlide3.xml" Id="R0453e3a7766d4c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7a2a06eeb34ad6" /><Relationship Type="http://schemas.openxmlformats.org/officeDocument/2006/relationships/notesSlide" Target="/ppt/notesSlides/notesSlide4.xml" Id="R877e5a7d4df04b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f184207ec54396" /><Relationship Type="http://schemas.openxmlformats.org/officeDocument/2006/relationships/notesSlide" Target="/ppt/notesSlides/notesSlide5.xml" Id="R5aa651d0ec8741e1" /></Relationships>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76932C92-2CE3-46EA-8716-D0B98C75FA78}"/>
              </a:ext>
            </a:extLst>
          </p:cNvPr>
          <p:cNvSpPr>
            <a:spLocks xmlns:a="http://schemas.openxmlformats.org/drawingml/2006/main" noGrp="1"/>
          </p:cNvSpPr>
          <p:nvPr/>
        </p:nvSpPr>
        <p:spPr>
          <a:xfrm xmlns:a="http://schemas.openxmlformats.org/drawingml/2006/main">
            <a:off x="609600" y="4572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76B70"/>
                </a:solidFill>
                <a:latin typeface="Helvetica Neue"/>
                <a:ea typeface="Helvetica Neue"/>
                <a:cs typeface="Helvetica Neue"/>
              </a:defRPr>
            </a:pPr>
            <a:r>
              <a:rPr sz="1500" b="1">
                <a:solidFill>
                  <a:srgbClr val="076B70"/>
                </a:solidFill>
                <a:latin typeface="Helvetica Neue"/>
                <a:ea typeface="Helvetica Neue"/>
                <a:cs typeface="Helvetica Neue"/>
              </a:rPr>
              <a:t>BONSAI-ON-CHIP</a:t>
            </a:r>
          </a:p>
        </p:txBody>
      </p:sp>
      <p:sp>
        <p:nvSpPr>
          <p:cNvPr id="2" name="cover-title">
            <a:extLst xmlns:a="http://schemas.openxmlformats.org/drawingml/2006/main">
              <a:ext uri="{FF2B5EF4-FFF2-40B4-BE49-F238E27FC236}">
                <a16:creationId xmlns:a16="http://schemas.microsoft.com/office/drawing/2014/main" id="{0E52D8EA-9CB5-4AFA-A6AD-E0C10F6523E1}"/>
              </a:ext>
            </a:extLst>
          </p:cNvPr>
          <p:cNvSpPr>
            <a:spLocks xmlns:a="http://schemas.openxmlformats.org/drawingml/2006/main" noGrp="1"/>
          </p:cNvSpPr>
          <p:nvPr/>
        </p:nvSpPr>
        <p:spPr>
          <a:xfrm xmlns:a="http://schemas.openxmlformats.org/drawingml/2006/main">
            <a:off x="609600" y="1266825"/>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16343A"/>
                </a:solidFill>
                <a:latin typeface="Helvetica Neue"/>
                <a:ea typeface="Helvetica Neue"/>
                <a:cs typeface="Helvetica Neue"/>
              </a:defRPr>
            </a:pPr>
            <a:r>
              <a:rPr sz="5400" b="1">
                <a:solidFill>
                  <a:srgbClr val="16343A"/>
                </a:solidFill>
                <a:latin typeface="Helvetica Neue"/>
                <a:ea typeface="Helvetica Neue"/>
                <a:cs typeface="Helvetica Neue"/>
              </a:rPr>
              <a:t>Bonsai-on-chip</a:t>
            </a:r>
          </a:p>
          <a:p xmlns:a="http://schemas.openxmlformats.org/drawingml/2006/main">
            <a:pPr algn="l">
              <a:defRPr sz="5400" b="1">
                <a:solidFill>
                  <a:srgbClr val="16343A"/>
                </a:solidFill>
                <a:latin typeface="Helvetica Neue"/>
                <a:ea typeface="Helvetica Neue"/>
                <a:cs typeface="Helvetica Neue"/>
              </a:defRPr>
            </a:pPr>
            <a:r>
              <a:rPr sz="5400" b="1">
                <a:solidFill>
                  <a:srgbClr val="16343A"/>
                </a:solidFill>
                <a:latin typeface="Helvetica Neue"/>
                <a:ea typeface="Helvetica Neue"/>
                <a:cs typeface="Helvetica Neue"/>
              </a:rPr>
              <a:t>weekly progress</a:t>
            </a:r>
          </a:p>
        </p:txBody>
      </p:sp>
      <p:sp>
        <p:nvSpPr>
          <p:cNvPr id="3" name="date">
            <a:extLst xmlns:a="http://schemas.openxmlformats.org/drawingml/2006/main">
              <a:ext uri="{FF2B5EF4-FFF2-40B4-BE49-F238E27FC236}">
                <a16:creationId xmlns:a16="http://schemas.microsoft.com/office/drawing/2014/main" id="{2E09D283-EC8E-4686-9F21-30D702933436}"/>
              </a:ext>
            </a:extLst>
          </p:cNvPr>
          <p:cNvSpPr>
            <a:spLocks xmlns:a="http://schemas.openxmlformats.org/drawingml/2006/main" noGrp="1"/>
          </p:cNvSpPr>
          <p:nvPr/>
        </p:nvSpPr>
        <p:spPr>
          <a:xfrm xmlns:a="http://schemas.openxmlformats.org/drawingml/2006/main">
            <a:off x="628650" y="32766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66A"/>
                </a:solidFill>
                <a:latin typeface="Helvetica Neue"/>
                <a:ea typeface="Helvetica Neue"/>
                <a:cs typeface="Helvetica Neue"/>
              </a:defRPr>
            </a:pPr>
            <a:r>
              <a:rPr sz="2100" b="0">
                <a:solidFill>
                  <a:srgbClr val="52666A"/>
                </a:solidFill>
                <a:latin typeface="Helvetica Neue"/>
                <a:ea typeface="Helvetica Neue"/>
                <a:cs typeface="Helvetica Neue"/>
              </a:rPr>
              <a:t>[Reporting week and date]</a:t>
            </a:r>
          </a:p>
        </p:txBody>
      </p:sp>
      <p:sp>
        <p:nvSpPr>
          <p:cNvPr id="4" name="status">
            <a:extLst xmlns:a="http://schemas.openxmlformats.org/drawingml/2006/main">
              <a:ext uri="{FF2B5EF4-FFF2-40B4-BE49-F238E27FC236}">
                <a16:creationId xmlns:a16="http://schemas.microsoft.com/office/drawing/2014/main" id="{D0EAEDC5-41B9-4C51-B945-0960403FF4E3}"/>
              </a:ext>
            </a:extLst>
          </p:cNvPr>
          <p:cNvSpPr>
            <a:spLocks xmlns:a="http://schemas.openxmlformats.org/drawingml/2006/main" noGrp="1"/>
          </p:cNvSpPr>
          <p:nvPr/>
        </p:nvSpPr>
        <p:spPr>
          <a:xfrm xmlns:a="http://schemas.openxmlformats.org/drawingml/2006/main">
            <a:off x="628650" y="4324350"/>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6343A"/>
                </a:solidFill>
                <a:latin typeface="Helvetica Neue"/>
                <a:ea typeface="Helvetica Neue"/>
                <a:cs typeface="Helvetica Neue"/>
              </a:defRPr>
            </a:pPr>
            <a:r>
              <a:rPr sz="2550" b="1">
                <a:solidFill>
                  <a:srgbClr val="16343A"/>
                </a:solidFill>
                <a:latin typeface="Helvetica Neue"/>
                <a:ea typeface="Helvetica Neue"/>
                <a:cs typeface="Helvetica Neue"/>
              </a:rPr>
              <a:t>[What changed this week]</a:t>
            </a:r>
          </a:p>
          <a:p xmlns:a="http://schemas.openxmlformats.org/drawingml/2006/main">
            <a:pPr algn="l">
              <a:defRPr sz="2550" b="1">
                <a:solidFill>
                  <a:srgbClr val="16343A"/>
                </a:solidFill>
                <a:latin typeface="Helvetica Neue"/>
                <a:ea typeface="Helvetica Neue"/>
                <a:cs typeface="Helvetica Neue"/>
              </a:defRPr>
            </a:pPr>
            <a:r>
              <a:rPr sz="2550" b="1">
                <a:solidFill>
                  <a:srgbClr val="16343A"/>
                </a:solidFill>
                <a:latin typeface="Helvetica Neue"/>
                <a:ea typeface="Helvetica Neue"/>
                <a:cs typeface="Helvetica Neue"/>
              </a:rPr>
              <a:t>[Current milestone status]</a:t>
            </a:r>
          </a:p>
        </p:txBody>
      </p:sp>
      <p:sp>
        <p:nvSpPr>
          <p:cNvPr id="5" name="open-gate">
            <a:extLst xmlns:a="http://schemas.openxmlformats.org/drawingml/2006/main">
              <a:ext uri="{FF2B5EF4-FFF2-40B4-BE49-F238E27FC236}">
                <a16:creationId xmlns:a16="http://schemas.microsoft.com/office/drawing/2014/main" id="{4F62F4BA-53DB-41EF-925B-C1E70D3EE94E}"/>
              </a:ext>
            </a:extLst>
          </p:cNvPr>
          <p:cNvSpPr>
            <a:spLocks xmlns:a="http://schemas.openxmlformats.org/drawingml/2006/main" noGrp="1"/>
          </p:cNvSpPr>
          <p:nvPr/>
        </p:nvSpPr>
        <p:spPr>
          <a:xfrm xmlns:a="http://schemas.openxmlformats.org/drawingml/2006/main">
            <a:off x="628650" y="53911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34D29"/>
                </a:solidFill>
                <a:latin typeface="Helvetica Neue"/>
                <a:ea typeface="Helvetica Neue"/>
                <a:cs typeface="Helvetica Neue"/>
              </a:defRPr>
            </a:pPr>
            <a:r>
              <a:rPr sz="2550" b="1">
                <a:solidFill>
                  <a:srgbClr val="A34D29"/>
                </a:solidFill>
                <a:latin typeface="Helvetica Neue"/>
                <a:ea typeface="Helvetica Neue"/>
                <a:cs typeface="Helvetica Neue"/>
              </a:rPr>
              <a:t>[Main open gate or warning]</a:t>
            </a:r>
          </a:p>
        </p:txBody>
      </p:sp>
    </p:spTree>
    <p:extLst>
      <p:ext uri="{BB962C8B-B14F-4D97-AF65-F5344CB8AC3E}">
        <p14:creationId xmlns:p14="http://schemas.microsoft.com/office/powerpoint/2010/main" val="1788372088"/>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AED0855E-682F-4C39-9BA4-E3D143A6C598}"/>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76B70"/>
                </a:solidFill>
                <a:latin typeface="Helvetica Neue"/>
                <a:ea typeface="Helvetica Neue"/>
                <a:cs typeface="Helvetica Neue"/>
              </a:defRPr>
            </a:pPr>
            <a:r>
              <a:rPr sz="1200" b="1">
                <a:solidFill>
                  <a:srgbClr val="076B70"/>
                </a:solidFill>
                <a:latin typeface="Helvetica Neue"/>
                <a:ea typeface="Helvetica Neue"/>
                <a:cs typeface="Helvetica Neue"/>
              </a:rPr>
              <a:t>BONSAI-ON-CHIP</a:t>
            </a:r>
          </a:p>
        </p:txBody>
      </p:sp>
      <p:sp>
        <p:nvSpPr>
          <p:cNvPr id="2" name="page">
            <a:extLst xmlns:a="http://schemas.openxmlformats.org/drawingml/2006/main">
              <a:ext uri="{FF2B5EF4-FFF2-40B4-BE49-F238E27FC236}">
                <a16:creationId xmlns:a16="http://schemas.microsoft.com/office/drawing/2014/main" id="{5687EEBD-00F9-4184-9FBE-AAFCC2267594}"/>
              </a:ext>
            </a:extLst>
          </p:cNvPr>
          <p:cNvSpPr>
            <a:spLocks xmlns:a="http://schemas.openxmlformats.org/drawingml/2006/main" noGrp="1"/>
          </p:cNvSpPr>
          <p:nvPr/>
        </p:nvSpPr>
        <p:spPr>
          <a:xfrm xmlns:a="http://schemas.openxmlformats.org/drawingml/2006/main">
            <a:off x="11049000" y="285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02</a:t>
            </a:r>
          </a:p>
        </p:txBody>
      </p:sp>
      <p:sp>
        <p:nvSpPr>
          <p:cNvPr id="3" name="title">
            <a:extLst xmlns:a="http://schemas.openxmlformats.org/drawingml/2006/main">
              <a:ext uri="{FF2B5EF4-FFF2-40B4-BE49-F238E27FC236}">
                <a16:creationId xmlns:a16="http://schemas.microsoft.com/office/drawing/2014/main" id="{50A9B5FB-12D8-44B8-9532-D260165591ED}"/>
              </a:ext>
            </a:extLst>
          </p:cNvPr>
          <p:cNvSpPr>
            <a:spLocks xmlns:a="http://schemas.openxmlformats.org/drawingml/2006/main" noGrp="1"/>
          </p:cNvSpPr>
          <p:nvPr/>
        </p:nvSpPr>
        <p:spPr>
          <a:xfrm xmlns:a="http://schemas.openxmlformats.org/drawingml/2006/main">
            <a:off x="609600" y="790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343A"/>
                </a:solidFill>
                <a:latin typeface="Helvetica Neue"/>
                <a:ea typeface="Helvetica Neue"/>
                <a:cs typeface="Helvetica Neue"/>
              </a:defRPr>
            </a:pPr>
            <a:r>
              <a:rPr sz="3300" b="1">
                <a:solidFill>
                  <a:srgbClr val="16343A"/>
                </a:solidFill>
                <a:latin typeface="Helvetica Neue"/>
                <a:ea typeface="Helvetica Neue"/>
                <a:cs typeface="Helvetica Neue"/>
              </a:rPr>
              <a:t>Verified progress</a:t>
            </a:r>
          </a:p>
        </p:txBody>
      </p:sp>
      <p:sp>
        <p:nvSpPr>
          <p:cNvPr id="4" name="footer">
            <a:extLst xmlns:a="http://schemas.openxmlformats.org/drawingml/2006/main">
              <a:ext uri="{FF2B5EF4-FFF2-40B4-BE49-F238E27FC236}">
                <a16:creationId xmlns:a16="http://schemas.microsoft.com/office/drawing/2014/main" id="{F6BDF6BD-E219-4DFF-B9F2-093669FAAB3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Weekly update template</a:t>
            </a:r>
          </a:p>
        </p:txBody>
      </p:sp>
      <p:graphicFrame>
        <p:nvGraphicFramePr>
          <p:cNvPr id="11" name=""/>
          <p:cNvGraphicFramePr/>
          <p:nvPr/>
        </p:nvGraphicFramePr>
        <p:xfrm>
          <a:off xmlns:a="http://schemas.openxmlformats.org/drawingml/2006/main" x="609600" y="1704975"/>
          <a:ext xmlns:a="http://schemas.openxmlformats.org/drawingml/2006/main" cx="10972800" cy="3810000"/>
        </p:xfrm>
        <a:graphic xmlns:a="http://schemas.openxmlformats.org/drawingml/2006/main">
          <a:graphicData uri="http://schemas.openxmlformats.org/drawingml/2006/table">
            <a:tbl>
              <a:tblPr firstRow="1" bandRow="0"/>
              <a:tblGrid>
                <a:gridCol w="3143250"/>
                <a:gridCol w="3571875"/>
                <a:gridCol w="4257675"/>
              </a:tblGrid>
              <a:tr h="457200">
                <a:tc>
                  <a:txBody>
                    <a:bodyPr wrap="square" lIns="114300" tIns="95250" rIns="114300" bIns="95250">
                      <a:noAutofit/>
                    </a:bodyPr>
                    <a:lstStyle/>
                    <a:p>
                      <a:r>
                        <a:rPr sz="1350" b="1">
                          <a:solidFill>
                            <a:srgbClr val="FFFFFF"/>
                          </a:solidFill>
                          <a:latin typeface="Helvetica Neue"/>
                          <a:ea typeface="Helvetica Neue"/>
                          <a:cs typeface="Helvetica Neue"/>
                        </a:rPr>
                        <a:t>EVIDENCE CLASS</a:t>
                      </a:r>
                    </a:p>
                  </a:txBody>
                  <a:tcPr marL="91440" marR="91440" marT="45720" marB="45720" anchor="ctr">
                    <a:solidFill>
                      <a:srgbClr val="16343A"/>
                    </a:solidFill>
                  </a:tcPr>
                </a:tc>
                <a:tc>
                  <a:txBody>
                    <a:bodyPr wrap="square" lIns="114300" tIns="95250" rIns="114300" bIns="95250">
                      <a:noAutofit/>
                    </a:bodyPr>
                    <a:lstStyle/>
                    <a:p>
                      <a:r>
                        <a:rPr sz="1350" b="1">
                          <a:solidFill>
                            <a:srgbClr val="FFFFFF"/>
                          </a:solidFill>
                          <a:latin typeface="Helvetica Neue"/>
                          <a:ea typeface="Helvetica Neue"/>
                          <a:cs typeface="Helvetica Neue"/>
                        </a:rPr>
                        <a:t>VERIFIED RESULT</a:t>
                      </a:r>
                    </a:p>
                  </a:txBody>
                  <a:tcPr marL="91440" marR="91440" marT="45720" marB="45720" anchor="ctr">
                    <a:solidFill>
                      <a:srgbClr val="16343A"/>
                    </a:solidFill>
                  </a:tcPr>
                </a:tc>
                <a:tc>
                  <a:txBody>
                    <a:bodyPr wrap="square" lIns="114300" tIns="95250" rIns="114300" bIns="95250">
                      <a:noAutofit/>
                    </a:bodyPr>
                    <a:lstStyle/>
                    <a:p>
                      <a:r>
                        <a:rPr sz="1350" b="1">
                          <a:solidFill>
                            <a:srgbClr val="FFFFFF"/>
                          </a:solidFill>
                          <a:latin typeface="Helvetica Neue"/>
                          <a:ea typeface="Helvetica Neue"/>
                          <a:cs typeface="Helvetica Neue"/>
                        </a:rPr>
                        <a:t>SCOPE / SOURCE</a:t>
                      </a:r>
                    </a:p>
                  </a:txBody>
                  <a:tcPr marL="91440" marR="91440" marT="45720" marB="45720" anchor="ctr">
                    <a:solidFill>
                      <a:srgbClr val="16343A"/>
                    </a:solidFill>
                  </a:tcPr>
                </a:tc>
              </a:tr>
              <a:tr h="838200">
                <a:tc>
                  <a:txBody>
                    <a:bodyPr wrap="square" lIns="114300" tIns="95250" rIns="114300" bIns="95250">
                      <a:noAutofit/>
                    </a:bodyPr>
                    <a:lstStyle/>
                    <a:p>
                      <a:r>
                        <a:rPr sz="1800" b="1">
                          <a:solidFill>
                            <a:srgbClr val="16343A"/>
                          </a:solidFill>
                          <a:latin typeface="Helvetica Neue"/>
                          <a:ea typeface="Helvetica Neue"/>
                          <a:cs typeface="Helvetica Neue"/>
                        </a:rPr>
                        <a:t>Native simulation</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[Count and outcome]</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[Source revision and report]</a:t>
                      </a:r>
                    </a:p>
                  </a:txBody>
                  <a:tcPr marL="91440" marR="91440" marT="45720" marB="45720" anchor="ctr">
                    <a:solidFill>
                      <a:srgbClr val="F7F5EE"/>
                    </a:solidFill>
                  </a:tcPr>
                </a:tc>
              </a:tr>
              <a:tr h="838200">
                <a:tc>
                  <a:txBody>
                    <a:bodyPr wrap="square" lIns="114300" tIns="95250" rIns="114300" bIns="95250">
                      <a:noAutofit/>
                    </a:bodyPr>
                    <a:lstStyle/>
                    <a:p>
                      <a:r>
                        <a:rPr sz="1800" b="1">
                          <a:solidFill>
                            <a:srgbClr val="16343A"/>
                          </a:solidFill>
                          <a:latin typeface="Helvetica Neue"/>
                          <a:ea typeface="Helvetica Neue"/>
                          <a:cs typeface="Helvetica Neue"/>
                        </a:rPr>
                        <a:t>Target FPGA simulation</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[Count and outcome]</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[Tool, model and report]</a:t>
                      </a:r>
                    </a:p>
                  </a:txBody>
                  <a:tcPr marL="91440" marR="91440" marT="45720" marB="45720" anchor="ctr">
                    <a:solidFill>
                      <a:srgbClr val="F7F5EE"/>
                    </a:solidFill>
                  </a:tcPr>
                </a:tc>
              </a:tr>
              <a:tr h="838200">
                <a:tc>
                  <a:txBody>
                    <a:bodyPr wrap="square" lIns="114300" tIns="95250" rIns="114300" bIns="95250">
                      <a:noAutofit/>
                    </a:bodyPr>
                    <a:lstStyle/>
                    <a:p>
                      <a:r>
                        <a:rPr sz="1800" b="1">
                          <a:solidFill>
                            <a:srgbClr val="16343A"/>
                          </a:solidFill>
                          <a:latin typeface="Helvetica Neue"/>
                          <a:ea typeface="Helvetica Neue"/>
                          <a:cs typeface="Helvetica Neue"/>
                        </a:rPr>
                        <a:t>Physical FPGA</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[Count and outcome]</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[Image ID, hardware and report]</a:t>
                      </a:r>
                    </a:p>
                  </a:txBody>
                  <a:tcPr marL="91440" marR="91440" marT="45720" marB="45720" anchor="ctr">
                    <a:solidFill>
                      <a:srgbClr val="F7F5EE"/>
                    </a:solidFill>
                  </a:tcPr>
                </a:tc>
              </a:tr>
              <a:tr h="838200">
                <a:tc>
                  <a:txBody>
                    <a:bodyPr wrap="square" lIns="114300" tIns="95250" rIns="114300" bIns="95250">
                      <a:noAutofit/>
                    </a:bodyPr>
                    <a:lstStyle/>
                    <a:p>
                      <a:r>
                        <a:rPr sz="1800" b="1">
                          <a:solidFill>
                            <a:srgbClr val="16343A"/>
                          </a:solidFill>
                          <a:latin typeface="Helvetica Neue"/>
                          <a:ea typeface="Helvetica Neue"/>
                          <a:cs typeface="Helvetica Neue"/>
                        </a:rPr>
                        <a:t>Model / system validation</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[Metric or pending]</a:t>
                      </a:r>
                    </a:p>
                  </a:txBody>
                  <a:tcPr marL="91440" marR="91440" marT="45720" marB="45720" anchor="ctr">
                    <a:solidFill>
                      <a:srgbClr val="F7F5EE"/>
                    </a:solidFill>
                  </a:tcPr>
                </a:tc>
                <a:tc>
                  <a:txBody>
                    <a:bodyPr wrap="square" lIns="114300" tIns="95250" rIns="114300" bIns="95250">
                      <a:noAutofit/>
                    </a:bodyPr>
                    <a:lstStyle/>
                    <a:p>
                      <a:r>
                        <a:rPr sz="1800" b="0">
                          <a:solidFill>
                            <a:srgbClr val="16343A"/>
                          </a:solidFill>
                          <a:latin typeface="Helvetica Neue"/>
                          <a:ea typeface="Helvetica Neue"/>
                          <a:cs typeface="Helvetica Neue"/>
                        </a:rPr>
                        <a:t>[Exact model and boundaries]</a:t>
                      </a:r>
                    </a:p>
                  </a:txBody>
                  <a:tcPr marL="91440" marR="91440" marT="45720" marB="45720" anchor="ctr">
                    <a:solidFill>
                      <a:srgbClr val="F7F5EE"/>
                    </a:solidFill>
                  </a:tcPr>
                </a:tc>
              </a:tr>
            </a:tbl>
          </a:graphicData>
        </a:graphic>
      </p:graphicFrame>
      <p:sp>
        <p:nvSpPr>
          <p:cNvPr id="6" name="boundary">
            <a:extLst xmlns:a="http://schemas.openxmlformats.org/drawingml/2006/main">
              <a:ext uri="{FF2B5EF4-FFF2-40B4-BE49-F238E27FC236}">
                <a16:creationId xmlns:a16="http://schemas.microsoft.com/office/drawing/2014/main" id="{C13F02B9-0747-4C39-9B16-7BE10E72D023}"/>
              </a:ext>
            </a:extLst>
          </p:cNvPr>
          <p:cNvSpPr>
            <a:spLocks xmlns:a="http://schemas.openxmlformats.org/drawingml/2006/main" noGrp="1"/>
          </p:cNvSpPr>
          <p:nvPr/>
        </p:nvSpPr>
        <p:spPr>
          <a:xfrm xmlns:a="http://schemas.openxmlformats.org/drawingml/2006/main">
            <a:off x="609600" y="582930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6A"/>
                </a:solidFill>
                <a:latin typeface="Helvetica Neue"/>
                <a:ea typeface="Helvetica Neue"/>
                <a:cs typeface="Helvetica Neue"/>
              </a:defRPr>
            </a:pPr>
            <a:r>
              <a:rPr sz="1725" b="0">
                <a:solidFill>
                  <a:srgbClr val="52666A"/>
                </a:solidFill>
                <a:latin typeface="Helvetica Neue"/>
                <a:ea typeface="Helvetica Neue"/>
                <a:cs typeface="Helvetica Neue"/>
              </a:rPr>
              <a:t>[State the most important coverage limit and any expected failures.]</a:t>
            </a:r>
          </a:p>
        </p:txBody>
      </p:sp>
    </p:spTree>
    <p:extLst>
      <p:ext uri="{BB962C8B-B14F-4D97-AF65-F5344CB8AC3E}">
        <p14:creationId xmlns:p14="http://schemas.microsoft.com/office/powerpoint/2010/main" val="1923485669"/>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5C887A12-72EF-49CA-A6EF-6ACD52E25572}"/>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76B70"/>
                </a:solidFill>
                <a:latin typeface="Helvetica Neue"/>
                <a:ea typeface="Helvetica Neue"/>
                <a:cs typeface="Helvetica Neue"/>
              </a:defRPr>
            </a:pPr>
            <a:r>
              <a:rPr sz="1200" b="1">
                <a:solidFill>
                  <a:srgbClr val="076B70"/>
                </a:solidFill>
                <a:latin typeface="Helvetica Neue"/>
                <a:ea typeface="Helvetica Neue"/>
                <a:cs typeface="Helvetica Neue"/>
              </a:rPr>
              <a:t>BONSAI-ON-CHIP</a:t>
            </a:r>
          </a:p>
        </p:txBody>
      </p:sp>
      <p:sp>
        <p:nvSpPr>
          <p:cNvPr id="2" name="page">
            <a:extLst xmlns:a="http://schemas.openxmlformats.org/drawingml/2006/main">
              <a:ext uri="{FF2B5EF4-FFF2-40B4-BE49-F238E27FC236}">
                <a16:creationId xmlns:a16="http://schemas.microsoft.com/office/drawing/2014/main" id="{F483E504-E0DE-4B64-9A2E-AD6766E3D855}"/>
              </a:ext>
            </a:extLst>
          </p:cNvPr>
          <p:cNvSpPr>
            <a:spLocks xmlns:a="http://schemas.openxmlformats.org/drawingml/2006/main" noGrp="1"/>
          </p:cNvSpPr>
          <p:nvPr/>
        </p:nvSpPr>
        <p:spPr>
          <a:xfrm xmlns:a="http://schemas.openxmlformats.org/drawingml/2006/main">
            <a:off x="11049000" y="285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03</a:t>
            </a:r>
          </a:p>
        </p:txBody>
      </p:sp>
      <p:sp>
        <p:nvSpPr>
          <p:cNvPr id="3" name="title">
            <a:extLst xmlns:a="http://schemas.openxmlformats.org/drawingml/2006/main">
              <a:ext uri="{FF2B5EF4-FFF2-40B4-BE49-F238E27FC236}">
                <a16:creationId xmlns:a16="http://schemas.microsoft.com/office/drawing/2014/main" id="{F84E13DF-E2AA-40B1-8A63-5A5F813CE655}"/>
              </a:ext>
            </a:extLst>
          </p:cNvPr>
          <p:cNvSpPr>
            <a:spLocks xmlns:a="http://schemas.openxmlformats.org/drawingml/2006/main" noGrp="1"/>
          </p:cNvSpPr>
          <p:nvPr/>
        </p:nvSpPr>
        <p:spPr>
          <a:xfrm xmlns:a="http://schemas.openxmlformats.org/drawingml/2006/main">
            <a:off x="609600" y="790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343A"/>
                </a:solidFill>
                <a:latin typeface="Helvetica Neue"/>
                <a:ea typeface="Helvetica Neue"/>
                <a:cs typeface="Helvetica Neue"/>
              </a:defRPr>
            </a:pPr>
            <a:r>
              <a:rPr sz="3300" b="1">
                <a:solidFill>
                  <a:srgbClr val="16343A"/>
                </a:solidFill>
                <a:latin typeface="Helvetica Neue"/>
                <a:ea typeface="Helvetica Neue"/>
                <a:cs typeface="Helvetica Neue"/>
              </a:rPr>
              <a:t>Execution status and simulation rates</a:t>
            </a:r>
          </a:p>
        </p:txBody>
      </p:sp>
      <p:sp>
        <p:nvSpPr>
          <p:cNvPr id="4" name="footer">
            <a:extLst xmlns:a="http://schemas.openxmlformats.org/drawingml/2006/main">
              <a:ext uri="{FF2B5EF4-FFF2-40B4-BE49-F238E27FC236}">
                <a16:creationId xmlns:a16="http://schemas.microsoft.com/office/drawing/2014/main" id="{4B5225FC-9177-436C-A5BC-86913E31F7B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Weekly update template</a:t>
            </a:r>
          </a:p>
        </p:txBody>
      </p:sp>
      <p:sp>
        <p:nvSpPr>
          <p:cNvPr id="5" name="status">
            <a:extLst xmlns:a="http://schemas.openxmlformats.org/drawingml/2006/main">
              <a:ext uri="{FF2B5EF4-FFF2-40B4-BE49-F238E27FC236}">
                <a16:creationId xmlns:a16="http://schemas.microsoft.com/office/drawing/2014/main" id="{919D5FBF-4396-4B8F-BA91-6C1703A603EE}"/>
              </a:ext>
            </a:extLst>
          </p:cNvPr>
          <p:cNvSpPr>
            <a:spLocks xmlns:a="http://schemas.openxmlformats.org/drawingml/2006/main" noGrp="1"/>
          </p:cNvSpPr>
          <p:nvPr/>
        </p:nvSpPr>
        <p:spPr>
          <a:xfrm xmlns:a="http://schemas.openxmlformats.org/drawingml/2006/main">
            <a:off x="609600" y="16097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6B70"/>
                </a:solidFill>
                <a:latin typeface="Helvetica Neue"/>
                <a:ea typeface="Helvetica Neue"/>
                <a:cs typeface="Helvetica Neue"/>
              </a:defRPr>
            </a:pPr>
            <a:r>
              <a:rPr sz="2175" b="1">
                <a:solidFill>
                  <a:srgbClr val="076B70"/>
                </a:solidFill>
                <a:latin typeface="Helvetica Neue"/>
                <a:ea typeface="Helvetica Neue"/>
                <a:cs typeface="Helvetica Neue"/>
              </a:rPr>
              <a:t>[Last completed execution milestone]</a:t>
            </a:r>
          </a:p>
        </p:txBody>
      </p:sp>
      <p:sp>
        <p:nvSpPr>
          <p:cNvPr id="6" name="live-status">
            <a:extLst xmlns:a="http://schemas.openxmlformats.org/drawingml/2006/main">
              <a:ext uri="{FF2B5EF4-FFF2-40B4-BE49-F238E27FC236}">
                <a16:creationId xmlns:a16="http://schemas.microsoft.com/office/drawing/2014/main" id="{EBD8A1B8-52ED-4C73-844C-5ABB96039BBC}"/>
              </a:ext>
            </a:extLst>
          </p:cNvPr>
          <p:cNvSpPr>
            <a:spLocks xmlns:a="http://schemas.openxmlformats.org/drawingml/2006/main" noGrp="1"/>
          </p:cNvSpPr>
          <p:nvPr/>
        </p:nvSpPr>
        <p:spPr>
          <a:xfrm xmlns:a="http://schemas.openxmlformats.org/drawingml/2006/main">
            <a:off x="609600" y="20669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6343A"/>
                </a:solidFill>
                <a:latin typeface="Helvetica Neue"/>
                <a:ea typeface="Helvetica Neue"/>
                <a:cs typeface="Helvetica Neue"/>
              </a:defRPr>
            </a:pPr>
            <a:r>
              <a:rPr sz="1875" b="0">
                <a:solidFill>
                  <a:srgbClr val="16343A"/>
                </a:solidFill>
                <a:latin typeface="Helvetica Neue"/>
                <a:ea typeface="Helvetica Neue"/>
                <a:cs typeface="Helvetica Neue"/>
              </a:rPr>
              <a:t>[Current activity and status timestamp]</a:t>
            </a:r>
          </a:p>
        </p:txBody>
      </p:sp>
      <p:graphicFrame>
        <p:nvGraphicFramePr>
          <p:cNvPr id="16" name=""/>
          <p:cNvGraphicFramePr/>
          <p:nvPr/>
        </p:nvGraphicFramePr>
        <p:xfrm>
          <a:off xmlns:a="http://schemas.openxmlformats.org/drawingml/2006/main" x="609600" y="2619375"/>
          <a:ext xmlns:a="http://schemas.openxmlformats.org/drawingml/2006/main" cx="10972800" cy="2657475"/>
        </p:xfrm>
        <a:graphic xmlns:a="http://schemas.openxmlformats.org/drawingml/2006/main">
          <a:graphicData uri="http://schemas.openxmlformats.org/drawingml/2006/table">
            <a:tbl>
              <a:tblPr firstRow="1" bandRow="0"/>
              <a:tblGrid>
                <a:gridCol w="3219450"/>
                <a:gridCol w="3028950"/>
                <a:gridCol w="4724400"/>
              </a:tblGrid>
              <a:tr h="457200">
                <a:tc>
                  <a:txBody>
                    <a:bodyPr wrap="square" lIns="114300" tIns="95250" rIns="114300" bIns="95250">
                      <a:noAutofit/>
                    </a:bodyPr>
                    <a:lstStyle/>
                    <a:p>
                      <a:r>
                        <a:rPr sz="1350" b="1">
                          <a:solidFill>
                            <a:srgbClr val="FFFFFF"/>
                          </a:solidFill>
                          <a:latin typeface="Helvetica Neue"/>
                          <a:ea typeface="Helvetica Neue"/>
                          <a:cs typeface="Helvetica Neue"/>
                        </a:rPr>
                        <a:t>MEASURE</a:t>
                      </a:r>
                    </a:p>
                  </a:txBody>
                  <a:tcPr marL="91440" marR="91440" marT="45720" marB="45720" anchor="ctr">
                    <a:solidFill>
                      <a:srgbClr val="16343A"/>
                    </a:solidFill>
                  </a:tcPr>
                </a:tc>
                <a:tc>
                  <a:txBody>
                    <a:bodyPr wrap="square" lIns="114300" tIns="95250" rIns="114300" bIns="95250">
                      <a:noAutofit/>
                    </a:bodyPr>
                    <a:lstStyle/>
                    <a:p>
                      <a:r>
                        <a:rPr sz="1350" b="1">
                          <a:solidFill>
                            <a:srgbClr val="FFFFFF"/>
                          </a:solidFill>
                          <a:latin typeface="Helvetica Neue"/>
                          <a:ea typeface="Helvetica Neue"/>
                          <a:cs typeface="Helvetica Neue"/>
                        </a:rPr>
                        <a:t>VALUE</a:t>
                      </a:r>
                    </a:p>
                  </a:txBody>
                  <a:tcPr marL="91440" marR="91440" marT="45720" marB="45720" anchor="ctr">
                    <a:solidFill>
                      <a:srgbClr val="16343A"/>
                    </a:solidFill>
                  </a:tcPr>
                </a:tc>
                <a:tc>
                  <a:txBody>
                    <a:bodyPr wrap="square" lIns="114300" tIns="95250" rIns="114300" bIns="95250">
                      <a:noAutofit/>
                    </a:bodyPr>
                    <a:lstStyle/>
                    <a:p>
                      <a:r>
                        <a:rPr sz="1350" b="1">
                          <a:solidFill>
                            <a:srgbClr val="FFFFFF"/>
                          </a:solidFill>
                          <a:latin typeface="Helvetica Neue"/>
                          <a:ea typeface="Helvetica Neue"/>
                          <a:cs typeface="Helvetica Neue"/>
                        </a:rPr>
                        <a:t>INTERPRETATION</a:t>
                      </a:r>
                    </a:p>
                  </a:txBody>
                  <a:tcPr marL="91440" marR="91440" marT="45720" marB="45720" anchor="ctr">
                    <a:solidFill>
                      <a:srgbClr val="16343A"/>
                    </a:solidFill>
                  </a:tcPr>
                </a:tc>
              </a:tr>
              <a:tr h="550069">
                <a:tc>
                  <a:txBody>
                    <a:bodyPr wrap="square" lIns="114300" tIns="95250" rIns="114300" bIns="95250">
                      <a:noAutofit/>
                    </a:bodyPr>
                    <a:lstStyle/>
                    <a:p>
                      <a:r>
                        <a:rPr sz="1725" b="1">
                          <a:solidFill>
                            <a:srgbClr val="16343A"/>
                          </a:solidFill>
                          <a:latin typeface="Helvetica Neue"/>
                          <a:ea typeface="Helvetica Neue"/>
                          <a:cs typeface="Helvetica Neue"/>
                        </a:rPr>
                        <a:t>Simulator rate</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[Cycles/sec or unmeasured]</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[Backend, host and work included]</a:t>
                      </a:r>
                    </a:p>
                  </a:txBody>
                  <a:tcPr marL="91440" marR="91440" marT="45720" marB="45720" anchor="ctr">
                    <a:solidFill>
                      <a:srgbClr val="F7F5EE"/>
                    </a:solidFill>
                  </a:tcPr>
                </a:tc>
              </a:tr>
              <a:tr h="550069">
                <a:tc>
                  <a:txBody>
                    <a:bodyPr wrap="square" lIns="114300" tIns="95250" rIns="114300" bIns="95250">
                      <a:noAutofit/>
                    </a:bodyPr>
                    <a:lstStyle/>
                    <a:p>
                      <a:r>
                        <a:rPr sz="1725" b="1">
                          <a:solidFill>
                            <a:srgbClr val="16343A"/>
                          </a:solidFill>
                          <a:latin typeface="Helvetica Neue"/>
                          <a:ea typeface="Helvetica Neue"/>
                          <a:cs typeface="Helvetica Neue"/>
                        </a:rPr>
                        <a:t>Operation latency</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[Cycles / operation]</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[Operation and excluded work]</a:t>
                      </a:r>
                    </a:p>
                  </a:txBody>
                  <a:tcPr marL="91440" marR="91440" marT="45720" marB="45720" anchor="ctr">
                    <a:solidFill>
                      <a:srgbClr val="F7F5EE"/>
                    </a:solidFill>
                  </a:tcPr>
                </a:tc>
              </a:tr>
              <a:tr h="550069">
                <a:tc>
                  <a:txBody>
                    <a:bodyPr wrap="square" lIns="114300" tIns="95250" rIns="114300" bIns="95250">
                      <a:noAutofit/>
                    </a:bodyPr>
                    <a:lstStyle/>
                    <a:p>
                      <a:r>
                        <a:rPr sz="1725" b="1">
                          <a:solidFill>
                            <a:srgbClr val="16343A"/>
                          </a:solidFill>
                          <a:latin typeface="Helvetica Neue"/>
                          <a:ea typeface="Helvetica Neue"/>
                          <a:cs typeface="Helvetica Neue"/>
                        </a:rPr>
                        <a:t>Modeled / FPGA clock</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[MHz / MHz or pending]</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[Simulation setting / closed timing]</a:t>
                      </a:r>
                    </a:p>
                  </a:txBody>
                  <a:tcPr marL="91440" marR="91440" marT="45720" marB="45720" anchor="ctr">
                    <a:solidFill>
                      <a:srgbClr val="F7F5EE"/>
                    </a:solidFill>
                  </a:tcPr>
                </a:tc>
              </a:tr>
              <a:tr h="550069">
                <a:tc>
                  <a:txBody>
                    <a:bodyPr wrap="square" lIns="114300" tIns="95250" rIns="114300" bIns="95250">
                      <a:noAutofit/>
                    </a:bodyPr>
                    <a:lstStyle/>
                    <a:p>
                      <a:r>
                        <a:rPr sz="1725" b="1">
                          <a:solidFill>
                            <a:srgbClr val="16343A"/>
                          </a:solidFill>
                          <a:latin typeface="Helvetica Neue"/>
                          <a:ea typeface="Helvetica Neue"/>
                          <a:cs typeface="Helvetica Neue"/>
                        </a:rPr>
                        <a:t>Implementation status</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[Stage and warning]</a:t>
                      </a:r>
                    </a:p>
                  </a:txBody>
                  <a:tcPr marL="91440" marR="91440" marT="45720" marB="45720" anchor="ctr">
                    <a:solidFill>
                      <a:srgbClr val="F7F5EE"/>
                    </a:solidFill>
                  </a:tcPr>
                </a:tc>
                <a:tc>
                  <a:txBody>
                    <a:bodyPr wrap="square" lIns="114300" tIns="95250" rIns="114300" bIns="95250">
                      <a:noAutofit/>
                    </a:bodyPr>
                    <a:lstStyle/>
                    <a:p>
                      <a:r>
                        <a:rPr sz="1725" b="0">
                          <a:solidFill>
                            <a:srgbClr val="16343A"/>
                          </a:solidFill>
                          <a:latin typeface="Helvetica Neue"/>
                          <a:ea typeface="Helvetica Neue"/>
                          <a:cs typeface="Helvetica Neue"/>
                        </a:rPr>
                        <a:t>[Source, constraints and report]</a:t>
                      </a:r>
                    </a:p>
                  </a:txBody>
                  <a:tcPr marL="91440" marR="91440" marT="45720" marB="45720" anchor="ctr">
                    <a:solidFill>
                      <a:srgbClr val="F7F5EE"/>
                    </a:solidFill>
                  </a:tcPr>
                </a:tc>
              </a:tr>
            </a:tbl>
          </a:graphicData>
        </a:graphic>
      </p:graphicFrame>
      <p:sp>
        <p:nvSpPr>
          <p:cNvPr id="8" name="timing">
            <a:extLst xmlns:a="http://schemas.openxmlformats.org/drawingml/2006/main">
              <a:ext uri="{FF2B5EF4-FFF2-40B4-BE49-F238E27FC236}">
                <a16:creationId xmlns:a16="http://schemas.microsoft.com/office/drawing/2014/main" id="{C069C44A-AC74-4FAE-9669-10D1BE534C24}"/>
              </a:ext>
            </a:extLst>
          </p:cNvPr>
          <p:cNvSpPr>
            <a:spLocks xmlns:a="http://schemas.openxmlformats.org/drawingml/2006/main" noGrp="1"/>
          </p:cNvSpPr>
          <p:nvPr/>
        </p:nvSpPr>
        <p:spPr>
          <a:xfrm xmlns:a="http://schemas.openxmlformats.org/drawingml/2006/main">
            <a:off x="609600" y="551497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A34D29"/>
                </a:solidFill>
                <a:latin typeface="Helvetica Neue"/>
                <a:ea typeface="Helvetica Neue"/>
                <a:cs typeface="Helvetica Neue"/>
              </a:defRPr>
            </a:pPr>
            <a:r>
              <a:rPr sz="1875" b="1">
                <a:solidFill>
                  <a:srgbClr val="A34D29"/>
                </a:solidFill>
                <a:latin typeface="Helvetica Neue"/>
                <a:ea typeface="Helvetica Neue"/>
                <a:cs typeface="Helvetica Neue"/>
              </a:rPr>
              <a:t>[Timing margin or blocker, explicitly preliminary or final]</a:t>
            </a:r>
          </a:p>
        </p:txBody>
      </p:sp>
      <p:sp>
        <p:nvSpPr>
          <p:cNvPr id="9" name="remaining">
            <a:extLst xmlns:a="http://schemas.openxmlformats.org/drawingml/2006/main">
              <a:ext uri="{FF2B5EF4-FFF2-40B4-BE49-F238E27FC236}">
                <a16:creationId xmlns:a16="http://schemas.microsoft.com/office/drawing/2014/main" id="{D40E7D65-999B-4752-AECD-6A2F27BE8DDB}"/>
              </a:ext>
            </a:extLst>
          </p:cNvPr>
          <p:cNvSpPr>
            <a:spLocks xmlns:a="http://schemas.openxmlformats.org/drawingml/2006/main" noGrp="1"/>
          </p:cNvSpPr>
          <p:nvPr/>
        </p:nvSpPr>
        <p:spPr>
          <a:xfrm xmlns:a="http://schemas.openxmlformats.org/drawingml/2006/main">
            <a:off x="609600" y="59721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66A"/>
                </a:solidFill>
                <a:latin typeface="Helvetica Neue"/>
                <a:ea typeface="Helvetica Neue"/>
                <a:cs typeface="Helvetica Neue"/>
              </a:defRPr>
            </a:pPr>
            <a:r>
              <a:rPr sz="1725" b="0">
                <a:solidFill>
                  <a:srgbClr val="52666A"/>
                </a:solidFill>
                <a:latin typeface="Helvetica Neue"/>
                <a:ea typeface="Helvetica Neue"/>
                <a:cs typeface="Helvetica Neue"/>
              </a:rPr>
              <a:t>[Next gate, responsible owner and required evidence]</a:t>
            </a:r>
          </a:p>
        </p:txBody>
      </p:sp>
    </p:spTree>
    <p:extLst>
      <p:ext uri="{BB962C8B-B14F-4D97-AF65-F5344CB8AC3E}">
        <p14:creationId xmlns:p14="http://schemas.microsoft.com/office/powerpoint/2010/main" val="1451194523"/>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FB9A7514-F438-45FA-B6C8-06249C01CFC8}"/>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76B70"/>
                </a:solidFill>
                <a:latin typeface="Helvetica Neue"/>
                <a:ea typeface="Helvetica Neue"/>
                <a:cs typeface="Helvetica Neue"/>
              </a:defRPr>
            </a:pPr>
            <a:r>
              <a:rPr sz="1200" b="1">
                <a:solidFill>
                  <a:srgbClr val="076B70"/>
                </a:solidFill>
                <a:latin typeface="Helvetica Neue"/>
                <a:ea typeface="Helvetica Neue"/>
                <a:cs typeface="Helvetica Neue"/>
              </a:rPr>
              <a:t>BONSAI-ON-CHIP</a:t>
            </a:r>
          </a:p>
        </p:txBody>
      </p:sp>
      <p:sp>
        <p:nvSpPr>
          <p:cNvPr id="2" name="page">
            <a:extLst xmlns:a="http://schemas.openxmlformats.org/drawingml/2006/main">
              <a:ext uri="{FF2B5EF4-FFF2-40B4-BE49-F238E27FC236}">
                <a16:creationId xmlns:a16="http://schemas.microsoft.com/office/drawing/2014/main" id="{9ABD6204-6AA1-4E56-B16A-C100354C5209}"/>
              </a:ext>
            </a:extLst>
          </p:cNvPr>
          <p:cNvSpPr>
            <a:spLocks xmlns:a="http://schemas.openxmlformats.org/drawingml/2006/main" noGrp="1"/>
          </p:cNvSpPr>
          <p:nvPr/>
        </p:nvSpPr>
        <p:spPr>
          <a:xfrm xmlns:a="http://schemas.openxmlformats.org/drawingml/2006/main">
            <a:off x="11049000" y="285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04</a:t>
            </a:r>
          </a:p>
        </p:txBody>
      </p:sp>
      <p:sp>
        <p:nvSpPr>
          <p:cNvPr id="3" name="title">
            <a:extLst xmlns:a="http://schemas.openxmlformats.org/drawingml/2006/main">
              <a:ext uri="{FF2B5EF4-FFF2-40B4-BE49-F238E27FC236}">
                <a16:creationId xmlns:a16="http://schemas.microsoft.com/office/drawing/2014/main" id="{C4CE85F6-3AAB-4085-A3ED-626AC7685234}"/>
              </a:ext>
            </a:extLst>
          </p:cNvPr>
          <p:cNvSpPr>
            <a:spLocks xmlns:a="http://schemas.openxmlformats.org/drawingml/2006/main" noGrp="1"/>
          </p:cNvSpPr>
          <p:nvPr/>
        </p:nvSpPr>
        <p:spPr>
          <a:xfrm xmlns:a="http://schemas.openxmlformats.org/drawingml/2006/main">
            <a:off x="609600" y="790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343A"/>
                </a:solidFill>
                <a:latin typeface="Helvetica Neue"/>
                <a:ea typeface="Helvetica Neue"/>
                <a:cs typeface="Helvetica Neue"/>
              </a:defRPr>
            </a:pPr>
            <a:r>
              <a:rPr sz="3300" b="1">
                <a:solidFill>
                  <a:srgbClr val="16343A"/>
                </a:solidFill>
                <a:latin typeface="Helvetica Neue"/>
                <a:ea typeface="Helvetica Neue"/>
                <a:cs typeface="Helvetica Neue"/>
              </a:rPr>
              <a:t>Design changes and integration</a:t>
            </a:r>
          </a:p>
        </p:txBody>
      </p:sp>
      <p:sp>
        <p:nvSpPr>
          <p:cNvPr id="4" name="footer">
            <a:extLst xmlns:a="http://schemas.openxmlformats.org/drawingml/2006/main">
              <a:ext uri="{FF2B5EF4-FFF2-40B4-BE49-F238E27FC236}">
                <a16:creationId xmlns:a16="http://schemas.microsoft.com/office/drawing/2014/main" id="{16B00BD9-365F-4A5B-BF3E-6D865957022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Weekly update template</a:t>
            </a:r>
          </a:p>
        </p:txBody>
      </p:sp>
      <p:sp>
        <p:nvSpPr>
          <p:cNvPr id="5" name="design-lead">
            <a:extLst xmlns:a="http://schemas.openxmlformats.org/drawingml/2006/main">
              <a:ext uri="{FF2B5EF4-FFF2-40B4-BE49-F238E27FC236}">
                <a16:creationId xmlns:a16="http://schemas.microsoft.com/office/drawing/2014/main" id="{B549B0AA-9B37-4EC8-959D-9138F9BD97AE}"/>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76B70"/>
                </a:solidFill>
                <a:latin typeface="Helvetica Neue"/>
                <a:ea typeface="Helvetica Neue"/>
                <a:cs typeface="Helvetica Neue"/>
              </a:defRPr>
            </a:pPr>
            <a:r>
              <a:rPr sz="2550" b="1">
                <a:solidFill>
                  <a:srgbClr val="076B70"/>
                </a:solidFill>
                <a:latin typeface="Helvetica Neue"/>
                <a:ea typeface="Helvetica Neue"/>
                <a:cs typeface="Helvetica Neue"/>
              </a:rPr>
              <a:t>[Architecture decision or proposal]</a:t>
            </a:r>
          </a:p>
        </p:txBody>
      </p:sp>
      <p:sp>
        <p:nvSpPr>
          <p:cNvPr id="6" name="state">
            <a:extLst xmlns:a="http://schemas.openxmlformats.org/drawingml/2006/main">
              <a:ext uri="{FF2B5EF4-FFF2-40B4-BE49-F238E27FC236}">
                <a16:creationId xmlns:a16="http://schemas.microsoft.com/office/drawing/2014/main" id="{82DFFF65-9322-4DC9-96CA-5A817536A18A}"/>
              </a:ext>
            </a:extLst>
          </p:cNvPr>
          <p:cNvSpPr>
            <a:spLocks xmlns:a="http://schemas.openxmlformats.org/drawingml/2006/main" noGrp="1"/>
          </p:cNvSpPr>
          <p:nvPr/>
        </p:nvSpPr>
        <p:spPr>
          <a:xfrm xmlns:a="http://schemas.openxmlformats.org/drawingml/2006/main">
            <a:off x="609600" y="21812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6343A"/>
                </a:solidFill>
                <a:latin typeface="Helvetica Neue"/>
                <a:ea typeface="Helvetica Neue"/>
                <a:cs typeface="Helvetica Neue"/>
              </a:defRPr>
            </a:pPr>
            <a:r>
              <a:rPr sz="2025" b="0">
                <a:solidFill>
                  <a:srgbClr val="16343A"/>
                </a:solidFill>
                <a:latin typeface="Helvetica Neue"/>
                <a:ea typeface="Helvetica Neue"/>
                <a:cs typeface="Helvetica Neue"/>
              </a:rPr>
              <a:t>[Clearly state what exists today and what is still proposed.]</a:t>
            </a:r>
          </a:p>
        </p:txBody>
      </p:sp>
      <p:sp>
        <p:nvSpPr>
          <p:cNvPr id="7" name="storage-label">
            <a:extLst xmlns:a="http://schemas.openxmlformats.org/drawingml/2006/main">
              <a:ext uri="{FF2B5EF4-FFF2-40B4-BE49-F238E27FC236}">
                <a16:creationId xmlns:a16="http://schemas.microsoft.com/office/drawing/2014/main" id="{83BCBF0B-AFE9-45C2-850C-F1BED26795BB}"/>
              </a:ext>
            </a:extLst>
          </p:cNvPr>
          <p:cNvSpPr>
            <a:spLocks xmlns:a="http://schemas.openxmlformats.org/drawingml/2006/main" noGrp="1"/>
          </p:cNvSpPr>
          <p:nvPr/>
        </p:nvSpPr>
        <p:spPr>
          <a:xfrm xmlns:a="http://schemas.openxmlformats.org/drawingml/2006/main">
            <a:off x="609600" y="3228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76B70"/>
                </a:solidFill>
                <a:latin typeface="Helvetica Neue"/>
                <a:ea typeface="Helvetica Neue"/>
                <a:cs typeface="Helvetica Neue"/>
              </a:defRPr>
            </a:pPr>
            <a:r>
              <a:rPr sz="1350" b="1">
                <a:solidFill>
                  <a:srgbClr val="076B70"/>
                </a:solidFill>
                <a:latin typeface="Helvetica Neue"/>
                <a:ea typeface="Helvetica Neue"/>
                <a:cs typeface="Helvetica Neue"/>
              </a:rPr>
              <a:t>CONTRACT / INVARIANT</a:t>
            </a:r>
          </a:p>
        </p:txBody>
      </p:sp>
      <p:sp>
        <p:nvSpPr>
          <p:cNvPr id="8" name="storage-body">
            <a:extLst xmlns:a="http://schemas.openxmlformats.org/drawingml/2006/main">
              <a:ext uri="{FF2B5EF4-FFF2-40B4-BE49-F238E27FC236}">
                <a16:creationId xmlns:a16="http://schemas.microsoft.com/office/drawing/2014/main" id="{B5EF9F65-A4A7-4E23-99D3-E35E7553BA5A}"/>
              </a:ext>
            </a:extLst>
          </p:cNvPr>
          <p:cNvSpPr>
            <a:spLocks xmlns:a="http://schemas.openxmlformats.org/drawingml/2006/main" noGrp="1"/>
          </p:cNvSpPr>
          <p:nvPr/>
        </p:nvSpPr>
        <p:spPr>
          <a:xfrm xmlns:a="http://schemas.openxmlformats.org/drawingml/2006/main">
            <a:off x="609600" y="3686175"/>
            <a:ext cx="49339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6343A"/>
                </a:solidFill>
                <a:latin typeface="Helvetica Neue"/>
                <a:ea typeface="Helvetica Neue"/>
                <a:cs typeface="Helvetica Neue"/>
              </a:defRPr>
            </a:pPr>
            <a:r>
              <a:rPr sz="2100" b="0">
                <a:solidFill>
                  <a:srgbClr val="16343A"/>
                </a:solidFill>
                <a:latin typeface="Helvetica Neue"/>
                <a:ea typeface="Helvetica Neue"/>
                <a:cs typeface="Helvetica Neue"/>
              </a:rPr>
              <a:t>[What behavior must stay unchanged]</a:t>
            </a:r>
          </a:p>
          <a:p xmlns:a="http://schemas.openxmlformats.org/drawingml/2006/main">
            <a:r>
              <a:t/>
            </a:r>
          </a:p>
          <a:p xmlns:a="http://schemas.openxmlformats.org/drawingml/2006/main">
            <a:pPr algn="l">
              <a:defRPr sz="2100" b="0">
                <a:solidFill>
                  <a:srgbClr val="16343A"/>
                </a:solidFill>
                <a:latin typeface="Helvetica Neue"/>
                <a:ea typeface="Helvetica Neue"/>
                <a:cs typeface="Helvetica Neue"/>
              </a:defRPr>
            </a:pPr>
            <a:r>
              <a:rPr sz="2100" b="0">
                <a:solidFill>
                  <a:srgbClr val="16343A"/>
                </a:solidFill>
                <a:latin typeface="Helvetica Neue"/>
                <a:ea typeface="Helvetica Neue"/>
                <a:cs typeface="Helvetica Neue"/>
              </a:rPr>
              <a:t>[Reset, fault and ownership rules]</a:t>
            </a:r>
          </a:p>
        </p:txBody>
      </p:sp>
      <p:sp>
        <p:nvSpPr>
          <p:cNvPr id="9" name="integration-label">
            <a:extLst xmlns:a="http://schemas.openxmlformats.org/drawingml/2006/main">
              <a:ext uri="{FF2B5EF4-FFF2-40B4-BE49-F238E27FC236}">
                <a16:creationId xmlns:a16="http://schemas.microsoft.com/office/drawing/2014/main" id="{F40CDEF4-4C6D-4096-8368-3F66A868C5E9}"/>
              </a:ext>
            </a:extLst>
          </p:cNvPr>
          <p:cNvSpPr>
            <a:spLocks xmlns:a="http://schemas.openxmlformats.org/drawingml/2006/main" noGrp="1"/>
          </p:cNvSpPr>
          <p:nvPr/>
        </p:nvSpPr>
        <p:spPr>
          <a:xfrm xmlns:a="http://schemas.openxmlformats.org/drawingml/2006/main">
            <a:off x="6419850" y="3228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76B70"/>
                </a:solidFill>
                <a:latin typeface="Helvetica Neue"/>
                <a:ea typeface="Helvetica Neue"/>
                <a:cs typeface="Helvetica Neue"/>
              </a:defRPr>
            </a:pPr>
            <a:r>
              <a:rPr sz="1350" b="1">
                <a:solidFill>
                  <a:srgbClr val="076B70"/>
                </a:solidFill>
                <a:latin typeface="Helvetica Neue"/>
                <a:ea typeface="Helvetica Neue"/>
                <a:cs typeface="Helvetica Neue"/>
              </a:rPr>
              <a:t>INTEGRATION / CAPACITY</a:t>
            </a:r>
          </a:p>
        </p:txBody>
      </p:sp>
      <p:sp>
        <p:nvSpPr>
          <p:cNvPr id="10" name="integration-body">
            <a:extLst xmlns:a="http://schemas.openxmlformats.org/drawingml/2006/main">
              <a:ext uri="{FF2B5EF4-FFF2-40B4-BE49-F238E27FC236}">
                <a16:creationId xmlns:a16="http://schemas.microsoft.com/office/drawing/2014/main" id="{21D6D0CB-CABB-40FC-8A1F-0A052FD085B5}"/>
              </a:ext>
            </a:extLst>
          </p:cNvPr>
          <p:cNvSpPr>
            <a:spLocks xmlns:a="http://schemas.openxmlformats.org/drawingml/2006/main" noGrp="1"/>
          </p:cNvSpPr>
          <p:nvPr/>
        </p:nvSpPr>
        <p:spPr>
          <a:xfrm xmlns:a="http://schemas.openxmlformats.org/drawingml/2006/main">
            <a:off x="6419850" y="3686175"/>
            <a:ext cx="5048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6343A"/>
                </a:solidFill>
                <a:latin typeface="Helvetica Neue"/>
                <a:ea typeface="Helvetica Neue"/>
                <a:cs typeface="Helvetica Neue"/>
              </a:defRPr>
            </a:pPr>
            <a:r>
              <a:rPr sz="2100" b="0">
                <a:solidFill>
                  <a:srgbClr val="16343A"/>
                </a:solidFill>
                <a:latin typeface="Helvetica Neue"/>
                <a:ea typeface="Helvetica Neue"/>
                <a:cs typeface="Helvetica Neue"/>
              </a:rPr>
              <a:t>[Interfaces and affected components]</a:t>
            </a:r>
          </a:p>
          <a:p xmlns:a="http://schemas.openxmlformats.org/drawingml/2006/main">
            <a:r>
              <a:t/>
            </a:r>
          </a:p>
          <a:p xmlns:a="http://schemas.openxmlformats.org/drawingml/2006/main">
            <a:pPr algn="l">
              <a:defRPr sz="2100" b="0">
                <a:solidFill>
                  <a:srgbClr val="16343A"/>
                </a:solidFill>
                <a:latin typeface="Helvetica Neue"/>
                <a:ea typeface="Helvetica Neue"/>
                <a:cs typeface="Helvetica Neue"/>
              </a:defRPr>
            </a:pPr>
            <a:r>
              <a:rPr sz="2100" b="0">
                <a:solidFill>
                  <a:srgbClr val="16343A"/>
                </a:solidFill>
                <a:latin typeface="Helvetica Neue"/>
                <a:ea typeface="Helvetica Neue"/>
                <a:cs typeface="Helvetica Neue"/>
              </a:rPr>
              <a:t>[Bandwidth, memory or resource limits]</a:t>
            </a:r>
          </a:p>
        </p:txBody>
      </p:sp>
      <p:sp>
        <p:nvSpPr>
          <p:cNvPr id="11" name="capacity">
            <a:extLst xmlns:a="http://schemas.openxmlformats.org/drawingml/2006/main">
              <a:ext uri="{FF2B5EF4-FFF2-40B4-BE49-F238E27FC236}">
                <a16:creationId xmlns:a16="http://schemas.microsoft.com/office/drawing/2014/main" id="{9A56829B-8DD1-4001-9786-97B2E95A0D06}"/>
              </a:ext>
            </a:extLst>
          </p:cNvPr>
          <p:cNvSpPr>
            <a:spLocks xmlns:a="http://schemas.openxmlformats.org/drawingml/2006/main" noGrp="1"/>
          </p:cNvSpPr>
          <p:nvPr/>
        </p:nvSpPr>
        <p:spPr>
          <a:xfrm xmlns:a="http://schemas.openxmlformats.org/drawingml/2006/main">
            <a:off x="609600" y="57340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34D29"/>
                </a:solidFill>
                <a:latin typeface="Helvetica Neue"/>
                <a:ea typeface="Helvetica Neue"/>
                <a:cs typeface="Helvetica Neue"/>
              </a:defRPr>
            </a:pPr>
            <a:r>
              <a:rPr sz="1800" b="1">
                <a:solidFill>
                  <a:srgbClr val="A34D29"/>
                </a:solidFill>
                <a:latin typeface="Helvetica Neue"/>
                <a:ea typeface="Helvetica Neue"/>
                <a:cs typeface="Helvetica Neue"/>
              </a:rPr>
              <a:t>[Open decision, named owner and the acceptance evidence needed]</a:t>
            </a:r>
          </a:p>
        </p:txBody>
      </p:sp>
    </p:spTree>
    <p:extLst>
      <p:ext uri="{BB962C8B-B14F-4D97-AF65-F5344CB8AC3E}">
        <p14:creationId xmlns:p14="http://schemas.microsoft.com/office/powerpoint/2010/main" val="989046075"/>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4" name="brand">
            <a:extLst xmlns:a="http://schemas.openxmlformats.org/drawingml/2006/main">
              <a:ext uri="{FF2B5EF4-FFF2-40B4-BE49-F238E27FC236}">
                <a16:creationId xmlns:a16="http://schemas.microsoft.com/office/drawing/2014/main" id="{87AA4C11-2516-4E2A-8058-FAE9F478E8A3}"/>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76B70"/>
                </a:solidFill>
                <a:latin typeface="Helvetica Neue"/>
                <a:ea typeface="Helvetica Neue"/>
                <a:cs typeface="Helvetica Neue"/>
              </a:defRPr>
            </a:pPr>
            <a:r>
              <a:rPr sz="1200" b="1">
                <a:solidFill>
                  <a:srgbClr val="076B70"/>
                </a:solidFill>
                <a:latin typeface="Helvetica Neue"/>
                <a:ea typeface="Helvetica Neue"/>
                <a:cs typeface="Helvetica Neue"/>
              </a:rPr>
              <a:t>BONSAI-ON-CHIP</a:t>
            </a:r>
          </a:p>
        </p:txBody>
      </p:sp>
      <p:sp>
        <p:nvSpPr>
          <p:cNvPr id="2" name="page">
            <a:extLst xmlns:a="http://schemas.openxmlformats.org/drawingml/2006/main">
              <a:ext uri="{FF2B5EF4-FFF2-40B4-BE49-F238E27FC236}">
                <a16:creationId xmlns:a16="http://schemas.microsoft.com/office/drawing/2014/main" id="{F0AA4A38-8DED-4A52-AD4B-F073364682CF}"/>
              </a:ext>
            </a:extLst>
          </p:cNvPr>
          <p:cNvSpPr>
            <a:spLocks xmlns:a="http://schemas.openxmlformats.org/drawingml/2006/main" noGrp="1"/>
          </p:cNvSpPr>
          <p:nvPr/>
        </p:nvSpPr>
        <p:spPr>
          <a:xfrm xmlns:a="http://schemas.openxmlformats.org/drawingml/2006/main">
            <a:off x="11049000" y="285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05</a:t>
            </a:r>
          </a:p>
        </p:txBody>
      </p:sp>
      <p:sp>
        <p:nvSpPr>
          <p:cNvPr id="3" name="title">
            <a:extLst xmlns:a="http://schemas.openxmlformats.org/drawingml/2006/main">
              <a:ext uri="{FF2B5EF4-FFF2-40B4-BE49-F238E27FC236}">
                <a16:creationId xmlns:a16="http://schemas.microsoft.com/office/drawing/2014/main" id="{3C159227-365A-4C37-8DB0-9A76B1D71C3A}"/>
              </a:ext>
            </a:extLst>
          </p:cNvPr>
          <p:cNvSpPr>
            <a:spLocks xmlns:a="http://schemas.openxmlformats.org/drawingml/2006/main" noGrp="1"/>
          </p:cNvSpPr>
          <p:nvPr/>
        </p:nvSpPr>
        <p:spPr>
          <a:xfrm xmlns:a="http://schemas.openxmlformats.org/drawingml/2006/main">
            <a:off x="609600" y="790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6343A"/>
                </a:solidFill>
                <a:latin typeface="Helvetica Neue"/>
                <a:ea typeface="Helvetica Neue"/>
                <a:cs typeface="Helvetica Neue"/>
              </a:defRPr>
            </a:pPr>
            <a:r>
              <a:rPr sz="3300" b="1">
                <a:solidFill>
                  <a:srgbClr val="16343A"/>
                </a:solidFill>
                <a:latin typeface="Helvetica Neue"/>
                <a:ea typeface="Helvetica Neue"/>
                <a:cs typeface="Helvetica Neue"/>
              </a:rPr>
              <a:t>Next deliverables and decisions</a:t>
            </a:r>
          </a:p>
        </p:txBody>
      </p:sp>
      <p:sp>
        <p:nvSpPr>
          <p:cNvPr id="4" name="footer">
            <a:extLst xmlns:a="http://schemas.openxmlformats.org/drawingml/2006/main">
              <a:ext uri="{FF2B5EF4-FFF2-40B4-BE49-F238E27FC236}">
                <a16:creationId xmlns:a16="http://schemas.microsoft.com/office/drawing/2014/main" id="{7D44671B-1A70-48AB-BAC1-D3A9F4E28B9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66A"/>
                </a:solidFill>
                <a:latin typeface="Helvetica Neue"/>
                <a:ea typeface="Helvetica Neue"/>
                <a:cs typeface="Helvetica Neue"/>
              </a:defRPr>
            </a:pPr>
            <a:r>
              <a:rPr sz="1200" b="0">
                <a:solidFill>
                  <a:srgbClr val="52666A"/>
                </a:solidFill>
                <a:latin typeface="Helvetica Neue"/>
                <a:ea typeface="Helvetica Neue"/>
                <a:cs typeface="Helvetica Neue"/>
              </a:rPr>
              <a:t>Weekly update template</a:t>
            </a:r>
          </a:p>
        </p:txBody>
      </p:sp>
      <p:sp>
        <p:nvSpPr>
          <p:cNvPr id="5" name="next1-number">
            <a:extLst xmlns:a="http://schemas.openxmlformats.org/drawingml/2006/main">
              <a:ext uri="{FF2B5EF4-FFF2-40B4-BE49-F238E27FC236}">
                <a16:creationId xmlns:a16="http://schemas.microsoft.com/office/drawing/2014/main" id="{7B30B787-6252-4BA8-98C0-9757B495AA5A}"/>
              </a:ext>
            </a:extLst>
          </p:cNvPr>
          <p:cNvSpPr>
            <a:spLocks xmlns:a="http://schemas.openxmlformats.org/drawingml/2006/main" noGrp="1"/>
          </p:cNvSpPr>
          <p:nvPr/>
        </p:nvSpPr>
        <p:spPr>
          <a:xfrm xmlns:a="http://schemas.openxmlformats.org/drawingml/2006/main">
            <a:off x="609600" y="1704975"/>
            <a:ext cx="742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6B70"/>
                </a:solidFill>
                <a:latin typeface="Helvetica Neue"/>
                <a:ea typeface="Helvetica Neue"/>
                <a:cs typeface="Helvetica Neue"/>
              </a:defRPr>
            </a:pPr>
            <a:r>
              <a:rPr sz="2400" b="1">
                <a:solidFill>
                  <a:srgbClr val="076B70"/>
                </a:solidFill>
                <a:latin typeface="Helvetica Neue"/>
                <a:ea typeface="Helvetica Neue"/>
                <a:cs typeface="Helvetica Neue"/>
              </a:rPr>
              <a:t>01</a:t>
            </a:r>
          </a:p>
        </p:txBody>
      </p:sp>
      <p:sp>
        <p:nvSpPr>
          <p:cNvPr id="6" name="next1-head">
            <a:extLst xmlns:a="http://schemas.openxmlformats.org/drawingml/2006/main">
              <a:ext uri="{FF2B5EF4-FFF2-40B4-BE49-F238E27FC236}">
                <a16:creationId xmlns:a16="http://schemas.microsoft.com/office/drawing/2014/main" id="{B752B7D1-3E29-4D9A-8BB5-0F66A6A25D2F}"/>
              </a:ext>
            </a:extLst>
          </p:cNvPr>
          <p:cNvSpPr>
            <a:spLocks xmlns:a="http://schemas.openxmlformats.org/drawingml/2006/main" noGrp="1"/>
          </p:cNvSpPr>
          <p:nvPr/>
        </p:nvSpPr>
        <p:spPr>
          <a:xfrm xmlns:a="http://schemas.openxmlformats.org/drawingml/2006/main">
            <a:off x="1428750" y="1647825"/>
            <a:ext cx="981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343A"/>
                </a:solidFill>
                <a:latin typeface="Helvetica Neue"/>
                <a:ea typeface="Helvetica Neue"/>
                <a:cs typeface="Helvetica Neue"/>
              </a:defRPr>
            </a:pPr>
            <a:r>
              <a:rPr sz="2400" b="1">
                <a:solidFill>
                  <a:srgbClr val="16343A"/>
                </a:solidFill>
                <a:latin typeface="Helvetica Neue"/>
                <a:ea typeface="Helvetica Neue"/>
                <a:cs typeface="Helvetica Neue"/>
              </a:rPr>
              <a:t>[Next acceptance gate]</a:t>
            </a:r>
          </a:p>
        </p:txBody>
      </p:sp>
      <p:sp>
        <p:nvSpPr>
          <p:cNvPr id="7" name="next1-body">
            <a:extLst xmlns:a="http://schemas.openxmlformats.org/drawingml/2006/main">
              <a:ext uri="{FF2B5EF4-FFF2-40B4-BE49-F238E27FC236}">
                <a16:creationId xmlns:a16="http://schemas.microsoft.com/office/drawing/2014/main" id="{144A1B9E-BC8F-4D85-8F4F-E3BE090F89F2}"/>
              </a:ext>
            </a:extLst>
          </p:cNvPr>
          <p:cNvSpPr>
            <a:spLocks xmlns:a="http://schemas.openxmlformats.org/drawingml/2006/main" noGrp="1"/>
          </p:cNvSpPr>
          <p:nvPr/>
        </p:nvSpPr>
        <p:spPr>
          <a:xfrm xmlns:a="http://schemas.openxmlformats.org/drawingml/2006/main">
            <a:off x="1428750" y="2152650"/>
            <a:ext cx="981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6343A"/>
                </a:solidFill>
                <a:latin typeface="Helvetica Neue"/>
                <a:ea typeface="Helvetica Neue"/>
                <a:cs typeface="Helvetica Neue"/>
              </a:defRPr>
            </a:pPr>
            <a:r>
              <a:rPr sz="1950" b="0">
                <a:solidFill>
                  <a:srgbClr val="16343A"/>
                </a:solidFill>
                <a:latin typeface="Helvetica Neue"/>
                <a:ea typeface="Helvetica Neue"/>
                <a:cs typeface="Helvetica Neue"/>
              </a:rPr>
              <a:t>[Owner, next action and the concrete evidence needed]</a:t>
            </a:r>
          </a:p>
          <a:p xmlns:a="http://schemas.openxmlformats.org/drawingml/2006/main">
            <a:pPr algn="l">
              <a:defRPr sz="1950" b="0">
                <a:solidFill>
                  <a:srgbClr val="16343A"/>
                </a:solidFill>
                <a:latin typeface="Helvetica Neue"/>
                <a:ea typeface="Helvetica Neue"/>
                <a:cs typeface="Helvetica Neue"/>
              </a:defRPr>
            </a:pPr>
            <a:r>
              <a:rPr sz="1950" b="0">
                <a:solidFill>
                  <a:srgbClr val="16343A"/>
                </a:solidFill>
                <a:latin typeface="Helvetica Neue"/>
                <a:ea typeface="Helvetica Neue"/>
                <a:cs typeface="Helvetica Neue"/>
              </a:rPr>
              <a:t>[Planned date, marked as a plan rather than a forecast]</a:t>
            </a:r>
          </a:p>
        </p:txBody>
      </p:sp>
      <p:sp>
        <p:nvSpPr>
          <p:cNvPr id="8" name="next2-number">
            <a:extLst xmlns:a="http://schemas.openxmlformats.org/drawingml/2006/main">
              <a:ext uri="{FF2B5EF4-FFF2-40B4-BE49-F238E27FC236}">
                <a16:creationId xmlns:a16="http://schemas.microsoft.com/office/drawing/2014/main" id="{41712F7B-3DBA-48C9-8549-C7EC9B7DD033}"/>
              </a:ext>
            </a:extLst>
          </p:cNvPr>
          <p:cNvSpPr>
            <a:spLocks xmlns:a="http://schemas.openxmlformats.org/drawingml/2006/main" noGrp="1"/>
          </p:cNvSpPr>
          <p:nvPr/>
        </p:nvSpPr>
        <p:spPr>
          <a:xfrm xmlns:a="http://schemas.openxmlformats.org/drawingml/2006/main">
            <a:off x="609600" y="3209925"/>
            <a:ext cx="742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76B70"/>
                </a:solidFill>
                <a:latin typeface="Helvetica Neue"/>
                <a:ea typeface="Helvetica Neue"/>
                <a:cs typeface="Helvetica Neue"/>
              </a:defRPr>
            </a:pPr>
            <a:r>
              <a:rPr sz="2400" b="1">
                <a:solidFill>
                  <a:srgbClr val="076B70"/>
                </a:solidFill>
                <a:latin typeface="Helvetica Neue"/>
                <a:ea typeface="Helvetica Neue"/>
                <a:cs typeface="Helvetica Neue"/>
              </a:rPr>
              <a:t>02</a:t>
            </a:r>
          </a:p>
        </p:txBody>
      </p:sp>
      <p:sp>
        <p:nvSpPr>
          <p:cNvPr id="9" name="next2-head">
            <a:extLst xmlns:a="http://schemas.openxmlformats.org/drawingml/2006/main">
              <a:ext uri="{FF2B5EF4-FFF2-40B4-BE49-F238E27FC236}">
                <a16:creationId xmlns:a16="http://schemas.microsoft.com/office/drawing/2014/main" id="{B0675D99-F58B-46A0-862F-5E0FDF6A1A1C}"/>
              </a:ext>
            </a:extLst>
          </p:cNvPr>
          <p:cNvSpPr>
            <a:spLocks xmlns:a="http://schemas.openxmlformats.org/drawingml/2006/main" noGrp="1"/>
          </p:cNvSpPr>
          <p:nvPr/>
        </p:nvSpPr>
        <p:spPr>
          <a:xfrm xmlns:a="http://schemas.openxmlformats.org/drawingml/2006/main">
            <a:off x="1428750" y="3152775"/>
            <a:ext cx="981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343A"/>
                </a:solidFill>
                <a:latin typeface="Helvetica Neue"/>
                <a:ea typeface="Helvetica Neue"/>
                <a:cs typeface="Helvetica Neue"/>
              </a:defRPr>
            </a:pPr>
            <a:r>
              <a:rPr sz="2400" b="1">
                <a:solidFill>
                  <a:srgbClr val="16343A"/>
                </a:solidFill>
                <a:latin typeface="Helvetica Neue"/>
                <a:ea typeface="Helvetica Neue"/>
                <a:cs typeface="Helvetica Neue"/>
              </a:rPr>
              <a:t>[Decision or blocker to resolve]</a:t>
            </a:r>
          </a:p>
        </p:txBody>
      </p:sp>
      <p:sp>
        <p:nvSpPr>
          <p:cNvPr id="10" name="next2-body">
            <a:extLst xmlns:a="http://schemas.openxmlformats.org/drawingml/2006/main">
              <a:ext uri="{FF2B5EF4-FFF2-40B4-BE49-F238E27FC236}">
                <a16:creationId xmlns:a16="http://schemas.microsoft.com/office/drawing/2014/main" id="{F0855FEE-5E89-4DBC-889E-6057004AAAB7}"/>
              </a:ext>
            </a:extLst>
          </p:cNvPr>
          <p:cNvSpPr>
            <a:spLocks xmlns:a="http://schemas.openxmlformats.org/drawingml/2006/main" noGrp="1"/>
          </p:cNvSpPr>
          <p:nvPr/>
        </p:nvSpPr>
        <p:spPr>
          <a:xfrm xmlns:a="http://schemas.openxmlformats.org/drawingml/2006/main">
            <a:off x="1428750" y="3657600"/>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6343A"/>
                </a:solidFill>
                <a:latin typeface="Helvetica Neue"/>
                <a:ea typeface="Helvetica Neue"/>
                <a:cs typeface="Helvetica Neue"/>
              </a:defRPr>
            </a:pPr>
            <a:r>
              <a:rPr sz="1950" b="0">
                <a:solidFill>
                  <a:srgbClr val="16343A"/>
                </a:solidFill>
                <a:latin typeface="Helvetica Neue"/>
                <a:ea typeface="Helvetica Neue"/>
                <a:cs typeface="Helvetica Neue"/>
              </a:rPr>
              <a:t>[Decision owner and the choices under consideration]</a:t>
            </a:r>
          </a:p>
          <a:p xmlns:a="http://schemas.openxmlformats.org/drawingml/2006/main">
            <a:pPr algn="l">
              <a:defRPr sz="1950" b="0">
                <a:solidFill>
                  <a:srgbClr val="16343A"/>
                </a:solidFill>
                <a:latin typeface="Helvetica Neue"/>
                <a:ea typeface="Helvetica Neue"/>
                <a:cs typeface="Helvetica Neue"/>
              </a:defRPr>
            </a:pPr>
            <a:r>
              <a:rPr sz="1950" b="0">
                <a:solidFill>
                  <a:srgbClr val="16343A"/>
                </a:solidFill>
                <a:latin typeface="Helvetica Neue"/>
                <a:ea typeface="Helvetica Neue"/>
                <a:cs typeface="Helvetica Neue"/>
              </a:rPr>
              <a:t>[What work depends on the decision]</a:t>
            </a:r>
          </a:p>
        </p:txBody>
      </p:sp>
      <p:sp>
        <p:nvSpPr>
          <p:cNvPr id="11" name="gate-label">
            <a:extLst xmlns:a="http://schemas.openxmlformats.org/drawingml/2006/main">
              <a:ext uri="{FF2B5EF4-FFF2-40B4-BE49-F238E27FC236}">
                <a16:creationId xmlns:a16="http://schemas.microsoft.com/office/drawing/2014/main" id="{8F2314B6-F4C5-486B-993B-82A270FEDB33}"/>
              </a:ext>
            </a:extLst>
          </p:cNvPr>
          <p:cNvSpPr>
            <a:spLocks xmlns:a="http://schemas.openxmlformats.org/drawingml/2006/main" noGrp="1"/>
          </p:cNvSpPr>
          <p:nvPr/>
        </p:nvSpPr>
        <p:spPr>
          <a:xfrm xmlns:a="http://schemas.openxmlformats.org/drawingml/2006/main">
            <a:off x="609600" y="488632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76B70"/>
                </a:solidFill>
                <a:latin typeface="Helvetica Neue"/>
                <a:ea typeface="Helvetica Neue"/>
                <a:cs typeface="Helvetica Neue"/>
              </a:defRPr>
            </a:pPr>
            <a:r>
              <a:rPr sz="1350" b="1">
                <a:solidFill>
                  <a:srgbClr val="076B70"/>
                </a:solidFill>
                <a:latin typeface="Helvetica Neue"/>
                <a:ea typeface="Helvetica Neue"/>
                <a:cs typeface="Helvetica Neue"/>
              </a:rPr>
              <a:t>EACH ISSUE DELIVERS</a:t>
            </a:r>
          </a:p>
        </p:txBody>
      </p:sp>
      <p:sp>
        <p:nvSpPr>
          <p:cNvPr id="12" name="gate-body">
            <a:extLst xmlns:a="http://schemas.openxmlformats.org/drawingml/2006/main">
              <a:ext uri="{FF2B5EF4-FFF2-40B4-BE49-F238E27FC236}">
                <a16:creationId xmlns:a16="http://schemas.microsoft.com/office/drawing/2014/main" id="{7A6B24FA-3741-42B4-BCD0-23746218FF13}"/>
              </a:ext>
            </a:extLst>
          </p:cNvPr>
          <p:cNvSpPr>
            <a:spLocks xmlns:a="http://schemas.openxmlformats.org/drawingml/2006/main" noGrp="1"/>
          </p:cNvSpPr>
          <p:nvPr/>
        </p:nvSpPr>
        <p:spPr>
          <a:xfrm xmlns:a="http://schemas.openxmlformats.org/drawingml/2006/main">
            <a:off x="609600" y="52387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6343A"/>
                </a:solidFill>
                <a:latin typeface="Helvetica Neue"/>
                <a:ea typeface="Helvetica Neue"/>
                <a:cs typeface="Helvetica Neue"/>
              </a:defRPr>
            </a:pPr>
            <a:r>
              <a:rPr sz="2175" b="1">
                <a:solidFill>
                  <a:srgbClr val="16343A"/>
                </a:solidFill>
                <a:latin typeface="Helvetica Neue"/>
                <a:ea typeface="Helvetica Neue"/>
                <a:cs typeface="Helvetica Neue"/>
              </a:rPr>
              <a:t>A PR, runnable simulation, actual FPGA evidence and an attached report</a:t>
            </a:r>
          </a:p>
        </p:txBody>
      </p:sp>
      <p:sp>
        <p:nvSpPr>
          <p:cNvPr id="13" name="owner">
            <a:extLst xmlns:a="http://schemas.openxmlformats.org/drawingml/2006/main">
              <a:ext uri="{FF2B5EF4-FFF2-40B4-BE49-F238E27FC236}">
                <a16:creationId xmlns:a16="http://schemas.microsoft.com/office/drawing/2014/main" id="{B1FB24E6-8A54-4DEE-9C32-4ACD992EDF54}"/>
              </a:ext>
            </a:extLst>
          </p:cNvPr>
          <p:cNvSpPr>
            <a:spLocks xmlns:a="http://schemas.openxmlformats.org/drawingml/2006/main" noGrp="1"/>
          </p:cNvSpPr>
          <p:nvPr/>
        </p:nvSpPr>
        <p:spPr>
          <a:xfrm xmlns:a="http://schemas.openxmlformats.org/drawingml/2006/main">
            <a:off x="609600" y="6076950"/>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66A"/>
                </a:solidFill>
                <a:latin typeface="Helvetica Neue"/>
                <a:ea typeface="Helvetica Neue"/>
                <a:cs typeface="Helvetica Neue"/>
              </a:defRPr>
            </a:pPr>
            <a:r>
              <a:rPr sz="1500" b="0">
                <a:solidFill>
                  <a:srgbClr val="52666A"/>
                </a:solidFill>
                <a:latin typeface="Helvetica Neue"/>
                <a:ea typeface="Helvetica Neue"/>
                <a:cs typeface="Helvetica Neue"/>
              </a:rPr>
              <a:t>Accountable: [name]. Next review: [date]. Scope boundary: [short statement].</a:t>
            </a:r>
          </a:p>
        </p:txBody>
      </p:sp>
    </p:spTree>
    <p:extLst>
      <p:ext uri="{BB962C8B-B14F-4D97-AF65-F5344CB8AC3E}">
        <p14:creationId xmlns:p14="http://schemas.microsoft.com/office/powerpoint/2010/main" val="1462917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2026-09-30T17:32:33.6070000Z</dcterms:created>
  <dcterms:modified xsi:type="dcterms:W3CDTF">2026-09-30T17:32:33.6070000Z</dcterms:modified>
</coreProperties>
</file>