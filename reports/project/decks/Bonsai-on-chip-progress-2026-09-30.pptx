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fd846079a654460" /><Relationship Type="http://schemas.openxmlformats.org/officeDocument/2006/relationships/extended-properties" Target="/docProps/app.xml" Id="R3fac128b90214d81" /><Relationship Type="http://schemas.openxmlformats.org/officeDocument/2006/relationships/officeDocument" Target="/ppt/presentation.xml" Id="R67a55682fba644e6" /></Relationships>
</file>

<file path=ppt/presentation.xml><?xml version="1.0" encoding="utf-8"?>
<p:presentation xmlns:p="http://schemas.openxmlformats.org/presentationml/2006/main">
  <p:sldMasterIdLst>
    <p:sldMasterId xmlns:r="http://schemas.openxmlformats.org/officeDocument/2006/relationships" id="2147483648" r:id="R62e0126236a9477c"/>
  </p:sldMasterIdLst>
  <p:notesMasterIdLst>
    <p:notesMasterId xmlns:r="http://schemas.openxmlformats.org/officeDocument/2006/relationships" r:id="Rfbb5e50bf29d48ae"/>
  </p:notesMasterIdLst>
  <p:sldIdLst>
    <p:sldId xmlns:r="http://schemas.openxmlformats.org/officeDocument/2006/relationships" id="256" r:id="R5fe806c4068c438b"/>
    <p:sldId xmlns:r="http://schemas.openxmlformats.org/officeDocument/2006/relationships" id="257" r:id="R84182c29bb2e447c"/>
    <p:sldId xmlns:r="http://schemas.openxmlformats.org/officeDocument/2006/relationships" id="258" r:id="Rc216d1aea61940e3"/>
    <p:sldId xmlns:r="http://schemas.openxmlformats.org/officeDocument/2006/relationships" id="259" r:id="R71f2969f9817482b"/>
    <p:sldId xmlns:r="http://schemas.openxmlformats.org/officeDocument/2006/relationships" id="260" r:id="Rb4adbf003a77442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d16f4cd2d72472c" /><Relationship Type="http://schemas.openxmlformats.org/officeDocument/2006/relationships/slideMaster" Target="/ppt/slideMasters/slideMaster1.xml" Id="R62e0126236a9477c" /><Relationship Type="http://schemas.openxmlformats.org/officeDocument/2006/relationships/notesMaster" Target="/ppt/notesMasters/notesMaster1.xml" Id="Rfbb5e50bf29d48ae" /><Relationship Type="http://schemas.openxmlformats.org/officeDocument/2006/relationships/presProps" Target="/ppt/presProps.xml" Id="R5e3804fb5a09453b" /><Relationship Type="http://schemas.openxmlformats.org/officeDocument/2006/relationships/tableStyles" Target="/ppt/tableStyles.xml" Id="R7eb0a16c9d2642be" /><Relationship Type="http://schemas.openxmlformats.org/officeDocument/2006/relationships/slide" Target="/ppt/slides/slide1.xml" Id="R5fe806c4068c438b" /><Relationship Type="http://schemas.openxmlformats.org/officeDocument/2006/relationships/slide" Target="/ppt/slides/slide2.xml" Id="R84182c29bb2e447c" /><Relationship Type="http://schemas.openxmlformats.org/officeDocument/2006/relationships/slide" Target="/ppt/slides/slide3.xml" Id="Rc216d1aea61940e3" /><Relationship Type="http://schemas.openxmlformats.org/officeDocument/2006/relationships/slide" Target="/ppt/slides/slide4.xml" Id="R71f2969f9817482b" /><Relationship Type="http://schemas.openxmlformats.org/officeDocument/2006/relationships/slide" Target="/ppt/slides/slide5.xml" Id="Rb4adbf003a77442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6dd78af9d4f4a2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fe00e0fce8b4bf4" /><Relationship Type="http://schemas.openxmlformats.org/officeDocument/2006/relationships/notesMaster" Target="/ppt/notesMasters/notesMaster1.xml" Id="R6d628c663fcc4696" /></Relationships>
</file>

<file path=ppt/notesSlides/_rels/notesSlide2.xml.rels>&#65279;<?xml version="1.0" encoding="utf-8"?><Relationships xmlns="http://schemas.openxmlformats.org/package/2006/relationships"><Relationship Type="http://schemas.openxmlformats.org/officeDocument/2006/relationships/slide" Target="/ppt/slides/slide2.xml" Id="R48197bcb1abe45d7" /><Relationship Type="http://schemas.openxmlformats.org/officeDocument/2006/relationships/notesMaster" Target="/ppt/notesMasters/notesMaster1.xml" Id="Rc5f0a42d8e5e4974" /></Relationships>
</file>

<file path=ppt/notesSlides/_rels/notesSlide3.xml.rels>&#65279;<?xml version="1.0" encoding="utf-8"?><Relationships xmlns="http://schemas.openxmlformats.org/package/2006/relationships"><Relationship Type="http://schemas.openxmlformats.org/officeDocument/2006/relationships/slide" Target="/ppt/slides/slide3.xml" Id="Re3a1540bf85e4f50" /><Relationship Type="http://schemas.openxmlformats.org/officeDocument/2006/relationships/notesMaster" Target="/ppt/notesMasters/notesMaster1.xml" Id="Rabe38cb7951d4c42" /></Relationships>
</file>

<file path=ppt/notesSlides/_rels/notesSlide4.xml.rels>&#65279;<?xml version="1.0" encoding="utf-8"?><Relationships xmlns="http://schemas.openxmlformats.org/package/2006/relationships"><Relationship Type="http://schemas.openxmlformats.org/officeDocument/2006/relationships/slide" Target="/ppt/slides/slide4.xml" Id="R8793a91d52c84c6a" /><Relationship Type="http://schemas.openxmlformats.org/officeDocument/2006/relationships/notesMaster" Target="/ppt/notesMasters/notesMaster1.xml" Id="Ra2f7e37ec172412c" /></Relationships>
</file>

<file path=ppt/notesSlides/_rels/notesSlide5.xml.rels>&#65279;<?xml version="1.0" encoding="utf-8"?><Relationships xmlns="http://schemas.openxmlformats.org/package/2006/relationships"><Relationship Type="http://schemas.openxmlformats.org/officeDocument/2006/relationships/slide" Target="/ppt/slides/slide5.xml" Id="R9160a4bbcb8849af" /><Relationship Type="http://schemas.openxmlformats.org/officeDocument/2006/relationships/notesMaster" Target="/ppt/notesMasters/notesMaster1.xml" Id="R20d2e98ebd3542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Snapshot for a team meeting. Week 0 setup is complete, including a physical vendor-adder smoke test. The custom Bonsai first slice has passed simulation, but its physical FPGA gate remains open. No full-model inference or token-generation claim.</a:t>
            </a:r>
          </a:p>
          <a:p xmlns:a="http://schemas.openxmlformats.org/drawingml/2006/main">
            <a:r>
              <a:t>Sources:</a:t>
            </a:r>
          </a:p>
          <a:p xmlns:a="http://schemas.openxmlformats.org/drawingml/2006/main">
            <a:r>
              <a:t>https://github.com/Ergodex-Core/bonsai_on_chip/blob/55f5995a3cb7afee55b21937010c1da9715fa3a2/reports/ERG-102/README.md</a:t>
            </a:r>
          </a:p>
          <a:p xmlns:a="http://schemas.openxmlformats.org/drawingml/2006/main">
            <a:r>
              <a:t>https://github.com/Ergodex-Core/bonsai_on_chip/blob/55f5995a3cb7afee55b21937010c1da9715fa3a2/reports/ERG-103/README.md</a:t>
            </a:r>
          </a:p>
          <a:p xmlns:a="http://schemas.openxmlformats.org/drawingml/2006/main">
            <a:r>
              <a:t>https://linear.app/ergodex-ai/project/model-in-silcon-bonsai-2-27b-ternary-quant-f2d1c0029436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classes must stay separate. Week 0 selected target count includes cached results, not 1,332 fresh executions. The physical 2,264-addition run used the public vendor adder AFI, not the Bonsai accelerator. Week 1 16-step local validation uses source 3ee0f99eb7216fe41ba55e719584c662313d3b10. Its six synthetic cases include two expected invalid-code rejections. Full canonical image size is 242,357,184 bytes and SHA256 ccd70c080f8758e1b4df58c2fdbdd6d13bb65571abbc56feb6942de1f8c07d99. Custom XSIM source 839e5fc1729c36903843ccc03ea6742bd4a265f9 passed 87 explicit check() calls, including 65 compact image line compares, 20 checks across four jobs and two setup checks. The 4,160-byte compact smoke covers three actual 1.7B Q1_0 blocks and one synthetic ternary unit-scale block. Vendor memory models are simulation, not physical memory execution.</a:t>
            </a:r>
          </a:p>
          <a:p xmlns:a="http://schemas.openxmlformats.org/drawingml/2006/main">
            <a:r>
              <a:t>Sources:</a:t>
            </a:r>
          </a:p>
          <a:p xmlns:a="http://schemas.openxmlformats.org/drawingml/2006/main">
            <a:r>
              <a:t>https://github.com/Ergodex-Core/bonsai_on_chip/blob/55f5995a3cb7afee55b21937010c1da9715fa3a2/reports/ERG-102/README.md</a:t>
            </a:r>
          </a:p>
          <a:p xmlns:a="http://schemas.openxmlformats.org/drawingml/2006/main">
            <a:r>
              <a:t>https://github.com/Ergodex-Core/bonsai_on_chip/blob/55f5995a3cb7afee55b21937010c1da9715fa3a2/reports/ERG-103/README.md</a:t>
            </a:r>
          </a:p>
          <a:p xmlns:a="http://schemas.openxmlformats.org/drawingml/2006/main">
            <a:r>
              <a:t>https://github.com/Ergodex-Core/bonsai_on_chip/tree/839e5fc1729c36903843ccc03ea6742bd4a265f9/fpga/aws_f2/first_slice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Hardware status as of 17:40 UTC on 30 Sep 2026, pending final refresh. Source 839e5fc1729c36903843ccc03ea6742bd4a265f9. Post-place WNS is preliminary, not a routed timing result or achieved clock. Target period 4 ns (250 MHz). Full-chip Arcilator remains unvalidated. The new first-slice Arcilator compile and link passed, followed by 3 mailbox checks, 4 protocol checks and all 6 synthetic cases. Full native runtime validation remains pending. These are interim results before the final source-bound rerun after a build-helper bounds correction. The runtime is x86_64 Linux Docker under emulation on an arm64 Mac, so its speed would not be directly comparable with the earlier native Verilator run. No measured Arcilator rate is claimed. Native AWS EC2 execution is the next preparation step, not completed evidence.</a:t>
            </a:r>
          </a:p>
          <a:p xmlns:a="http://schemas.openxmlformats.org/drawingml/2006/main">
            <a:r>
              <a:t>Verilator workflow rate was calculated as 99,098,552 logical core cycles / 29.017 wall seconds = 3.415189 million cycles/sec on Mac arm64. This includes native host workflow image load, two full readbacks and hashing, and 396 jobs. model_server steps logical cycles without a physical time setting. It is not a hardware frequency and not a pure compute-only simulator benchmark. DOT128 138–157-cycle latency excludes image load, control work and host scaling. XSIM uses the pinned shell's modeled 250 MHz clock. Physical accelerator frequency depends on final routed timing.</a:t>
            </a:r>
          </a:p>
          <a:p xmlns:a="http://schemas.openxmlformats.org/drawingml/2006/main">
            <a:r>
              <a:t>Sources:</a:t>
            </a:r>
          </a:p>
          <a:p xmlns:a="http://schemas.openxmlformats.org/drawingml/2006/main">
            <a:r>
              <a:t>https://github.com/Ergodex-Core/bonsai_on_chip/blob/55f5995a3cb7afee55b21937010c1da9715fa3a2/reports/ERG-103/README.md</a:t>
            </a:r>
          </a:p>
          <a:p xmlns:a="http://schemas.openxmlformats.org/drawingml/2006/main">
            <a:r>
              <a:t>https://github.com/Ergodex-Core/bonsai_on_chip/blob/3ee0f99eb7216fe41ba55e719584c662313d3b10/tests/first_slice/model_server.cpp</a:t>
            </a:r>
          </a:p>
          <a:p xmlns:a="http://schemas.openxmlformats.org/drawingml/2006/main">
            <a:r>
              <a:t>https://github.com/Ergodex-Core/bonsai_on_chip/pull/2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proposal only. No array RTL is authorized or implemented by this design task. Current ERG-103 transport targets DDR and preserves immutable load/readback-hash/seal with logical offsets and image epoch. Preferred HBM proposal must gate every writer alias, including host, debug, scrubber and performance paths, and invalidate data on reset or loss of memory validity. ASIC ROM is a separate proposed backend. Current ABI limits logical image size to 256 MiB, so large models require a versioned interface and capacity design.</a:t>
            </a:r>
          </a:p>
          <a:p xmlns:a="http://schemas.openxmlformats.org/drawingml/2006/main">
            <a:r>
              <a:t>A 16 GiB HBM physical capacity does not establish that a 27B checkpoint and its runtime state fit. Official 27B header-only research found PTQ1_0 file 5,946,648,928 bytes and PQ2_0 file 7,206,168,928 bytes, publisher identities only. KV and recurrent state, activations, descriptors and reserved regions still need budgeting. Full stated max context has 16 GiB dense FP16 KV alone for batch one before weights. No model execution or fit claim.</a:t>
            </a:r>
          </a:p>
          <a:p xmlns:a="http://schemas.openxmlformats.org/drawingml/2006/main">
            <a:r>
              <a:t>Sources:</a:t>
            </a:r>
          </a:p>
          <a:p xmlns:a="http://schemas.openxmlformats.org/drawingml/2006/main">
            <a:r>
              <a:t>https://github.com/Ergodex-Core/bonsai_on_chip/blob/2537a48665a13063e733713d855647df2f325c04/doc/microarch/weightstore.md</a:t>
            </a:r>
          </a:p>
          <a:p xmlns:a="http://schemas.openxmlformats.org/drawingml/2006/main">
            <a:r>
              <a:t>https://github.com/Ergodex-Core/bonsai_on_chip/blob/2537a48665a13063e733713d855647df2f325c04/doc/microarch/ternary-systolic-array.md</a:t>
            </a:r>
          </a:p>
          <a:p xmlns:a="http://schemas.openxmlformats.org/drawingml/2006/main">
            <a:r>
              <a:t>https://huggingface.co/prism-ml/Ternary-Bonsai-2-27B-gguf/tree/b072e1d3b35a0a630cece372c2127528e0994386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ERG-103 planned due date is 2 October, not a forecast of physical closure. Owner Rachit Tibrewal. PR #2 remains draft until required physical evidence and review. The current native fixture uses pinned Bonsai-1.7B-Q1_0 binary weights, not the 27B ternary candidate. No inference tokens have been generated by the custom FPGA slice.</a:t>
            </a:r>
          </a:p>
          <a:p xmlns:a="http://schemas.openxmlformats.org/drawingml/2006/main">
            <a:r>
              <a:t>The official candidate prism-ml/Ternary-Bonsai-2-27B-gguf is pinned to b072e1d3b35a0a630cece372c2127528e0994386. Metadata-only inspection identifies 851 tensors (402 ternary, 353 F32, 96 BF16), Qwen3.5 hybrid 64 layers (48 linear and 16 full attention), with required normalized block-1024 Hadamard activation rotation, signs and embedding inverse. PTQ1_0 or PQ2_0 format is not yet frozen. Validate against the Prism runtime and exact decoder before implementation. Publisher LFS identities are not full local file hash verification.</a:t>
            </a:r>
          </a:p>
          <a:p xmlns:a="http://schemas.openxmlformats.org/drawingml/2006/main">
            <a:r>
              <a:t>Sources:</a:t>
            </a:r>
          </a:p>
          <a:p xmlns:a="http://schemas.openxmlformats.org/drawingml/2006/main">
            <a:r>
              <a:t>https://github.com/Ergodex-Core/bonsai_on_chip/pull/2</a:t>
            </a:r>
          </a:p>
          <a:p xmlns:a="http://schemas.openxmlformats.org/drawingml/2006/main">
            <a:r>
              <a:t>https://linear.app/ergodex-ai/project/model-in-silcon-bonsai-2-27b-ternary-quant-f2d1c0029436</a:t>
            </a:r>
          </a:p>
          <a:p xmlns:a="http://schemas.openxmlformats.org/drawingml/2006/main">
            <a:r>
              <a:t>https://huggingface.co/prism-ml/Ternary-Bonsai-2-27B-gguf/tree/b072e1d3b35a0a630cece372c2127528e0994386</a:t>
            </a:r>
          </a:p>
          <a:p xmlns:a="http://schemas.openxmlformats.org/drawingml/2006/main">
            <a:r>
              <a:t>https://github.com/PrismML-Eng/llama.cpp/blob/adfffbe41b2cabcd51fff326ab045662265062bb/ggml/src/ggml-common.h#L199-L220</a:t>
            </a:r>
          </a:p>
          <a:p xmlns:a="http://schemas.openxmlformats.org/drawingml/2006/main">
            <a:r>
              <a:t>https://github.com/PrismML-Eng/Bonsai-demo#upstream-status-for-bonsai-2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dc7bff8647842c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69c66b05504178" /><Relationship Type="http://schemas.openxmlformats.org/officeDocument/2006/relationships/slideLayout" Target="/ppt/slideLayouts/slideLayout1.xml" Id="Rde41d01d20ea4cd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e41d01d20ea4cd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09f5ad36ed84d3e" /><Relationship Type="http://schemas.openxmlformats.org/officeDocument/2006/relationships/notesSlide" Target="/ppt/notesSlides/notesSlide1.xml" Id="R9d327ac6b717457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fc97dc86ea74496" /><Relationship Type="http://schemas.openxmlformats.org/officeDocument/2006/relationships/notesSlide" Target="/ppt/notesSlides/notesSlide2.xml" Id="R93a1a89630524ad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f761fc8b1684518" /><Relationship Type="http://schemas.openxmlformats.org/officeDocument/2006/relationships/notesSlide" Target="/ppt/notesSlides/notesSlide3.xml" Id="R6733db0a14be43c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9ec427273444950" /><Relationship Type="http://schemas.openxmlformats.org/officeDocument/2006/relationships/notesSlide" Target="/ppt/notesSlides/notesSlide4.xml" Id="Rff7ba62bafe842a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6175c6c8e204381" /><Relationship Type="http://schemas.openxmlformats.org/officeDocument/2006/relationships/notesSlide" Target="/ppt/notesSlides/notesSlide5.xml" Id="Rc57835d9ba0a4797" /></Relationships>
</file>

<file path=ppt/slides/slide1.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6" name="brand">
            <a:extLst xmlns:a="http://schemas.openxmlformats.org/drawingml/2006/main">
              <a:ext uri="{FF2B5EF4-FFF2-40B4-BE49-F238E27FC236}">
                <a16:creationId xmlns:a16="http://schemas.microsoft.com/office/drawing/2014/main" id="{770E01BC-B1C2-4DA3-BEEB-EC5BDF9A6114}"/>
              </a:ext>
            </a:extLst>
          </p:cNvPr>
          <p:cNvSpPr>
            <a:spLocks xmlns:a="http://schemas.openxmlformats.org/drawingml/2006/main" noGrp="1"/>
          </p:cNvSpPr>
          <p:nvPr/>
        </p:nvSpPr>
        <p:spPr>
          <a:xfrm xmlns:a="http://schemas.openxmlformats.org/drawingml/2006/main">
            <a:off x="609600" y="4572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076B70"/>
                </a:solidFill>
                <a:latin typeface="Helvetica Neue"/>
                <a:ea typeface="Helvetica Neue"/>
                <a:cs typeface="Helvetica Neue"/>
              </a:defRPr>
            </a:pPr>
            <a:r>
              <a:rPr sz="1500" b="1">
                <a:solidFill>
                  <a:srgbClr val="076B70"/>
                </a:solidFill>
                <a:latin typeface="Helvetica Neue"/>
                <a:ea typeface="Helvetica Neue"/>
                <a:cs typeface="Helvetica Neue"/>
              </a:rPr>
              <a:t>BONSAI-ON-CHIP</a:t>
            </a:r>
          </a:p>
        </p:txBody>
      </p:sp>
      <p:sp>
        <p:nvSpPr>
          <p:cNvPr id="2" name="cover-title">
            <a:extLst xmlns:a="http://schemas.openxmlformats.org/drawingml/2006/main">
              <a:ext uri="{FF2B5EF4-FFF2-40B4-BE49-F238E27FC236}">
                <a16:creationId xmlns:a16="http://schemas.microsoft.com/office/drawing/2014/main" id="{26A613C7-339E-4453-A327-EA3143FD6318}"/>
              </a:ext>
            </a:extLst>
          </p:cNvPr>
          <p:cNvSpPr>
            <a:spLocks xmlns:a="http://schemas.openxmlformats.org/drawingml/2006/main" noGrp="1"/>
          </p:cNvSpPr>
          <p:nvPr/>
        </p:nvSpPr>
        <p:spPr>
          <a:xfrm xmlns:a="http://schemas.openxmlformats.org/drawingml/2006/main">
            <a:off x="609600" y="1266825"/>
            <a:ext cx="109728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16343A"/>
                </a:solidFill>
                <a:latin typeface="Helvetica Neue"/>
                <a:ea typeface="Helvetica Neue"/>
                <a:cs typeface="Helvetica Neue"/>
              </a:defRPr>
            </a:pPr>
            <a:r>
              <a:rPr sz="5400" b="1">
                <a:solidFill>
                  <a:srgbClr val="16343A"/>
                </a:solidFill>
                <a:latin typeface="Helvetica Neue"/>
                <a:ea typeface="Helvetica Neue"/>
                <a:cs typeface="Helvetica Neue"/>
              </a:rPr>
              <a:t>Bonsai-on-chip</a:t>
            </a:r>
          </a:p>
          <a:p xmlns:a="http://schemas.openxmlformats.org/drawingml/2006/main">
            <a:pPr algn="l">
              <a:defRPr sz="5400" b="1">
                <a:solidFill>
                  <a:srgbClr val="16343A"/>
                </a:solidFill>
                <a:latin typeface="Helvetica Neue"/>
                <a:ea typeface="Helvetica Neue"/>
                <a:cs typeface="Helvetica Neue"/>
              </a:defRPr>
            </a:pPr>
            <a:r>
              <a:rPr sz="5400" b="1">
                <a:solidFill>
                  <a:srgbClr val="16343A"/>
                </a:solidFill>
                <a:latin typeface="Helvetica Neue"/>
                <a:ea typeface="Helvetica Neue"/>
                <a:cs typeface="Helvetica Neue"/>
              </a:rPr>
              <a:t>project progress</a:t>
            </a:r>
          </a:p>
        </p:txBody>
      </p:sp>
      <p:sp>
        <p:nvSpPr>
          <p:cNvPr id="3" name="date">
            <a:extLst xmlns:a="http://schemas.openxmlformats.org/drawingml/2006/main">
              <a:ext uri="{FF2B5EF4-FFF2-40B4-BE49-F238E27FC236}">
                <a16:creationId xmlns:a16="http://schemas.microsoft.com/office/drawing/2014/main" id="{1B4B69BA-6B32-425D-B9F1-C5659BF8D136}"/>
              </a:ext>
            </a:extLst>
          </p:cNvPr>
          <p:cNvSpPr>
            <a:spLocks xmlns:a="http://schemas.openxmlformats.org/drawingml/2006/main" noGrp="1"/>
          </p:cNvSpPr>
          <p:nvPr/>
        </p:nvSpPr>
        <p:spPr>
          <a:xfrm xmlns:a="http://schemas.openxmlformats.org/drawingml/2006/main">
            <a:off x="628650" y="3276600"/>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66A"/>
                </a:solidFill>
                <a:latin typeface="Helvetica Neue"/>
                <a:ea typeface="Helvetica Neue"/>
                <a:cs typeface="Helvetica Neue"/>
              </a:defRPr>
            </a:pPr>
            <a:r>
              <a:rPr sz="2100" b="0">
                <a:solidFill>
                  <a:srgbClr val="52666A"/>
                </a:solidFill>
                <a:latin typeface="Helvetica Neue"/>
                <a:ea typeface="Helvetica Neue"/>
                <a:cs typeface="Helvetica Neue"/>
              </a:rPr>
              <a:t>30 September 2026</a:t>
            </a:r>
          </a:p>
        </p:txBody>
      </p:sp>
      <p:sp>
        <p:nvSpPr>
          <p:cNvPr id="4" name="status">
            <a:extLst xmlns:a="http://schemas.openxmlformats.org/drawingml/2006/main">
              <a:ext uri="{FF2B5EF4-FFF2-40B4-BE49-F238E27FC236}">
                <a16:creationId xmlns:a16="http://schemas.microsoft.com/office/drawing/2014/main" id="{BD37B39F-8610-4BDE-992D-C6B6863D64A3}"/>
              </a:ext>
            </a:extLst>
          </p:cNvPr>
          <p:cNvSpPr>
            <a:spLocks xmlns:a="http://schemas.openxmlformats.org/drawingml/2006/main" noGrp="1"/>
          </p:cNvSpPr>
          <p:nvPr/>
        </p:nvSpPr>
        <p:spPr>
          <a:xfrm xmlns:a="http://schemas.openxmlformats.org/drawingml/2006/main">
            <a:off x="628650" y="4324350"/>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6343A"/>
                </a:solidFill>
                <a:latin typeface="Helvetica Neue"/>
                <a:ea typeface="Helvetica Neue"/>
                <a:cs typeface="Helvetica Neue"/>
              </a:defRPr>
            </a:pPr>
            <a:r>
              <a:rPr sz="2550" b="1">
                <a:solidFill>
                  <a:srgbClr val="16343A"/>
                </a:solidFill>
                <a:latin typeface="Helvetica Neue"/>
                <a:ea typeface="Helvetica Neue"/>
                <a:cs typeface="Helvetica Neue"/>
              </a:rPr>
              <a:t>Week 0 complete</a:t>
            </a:r>
          </a:p>
          <a:p xmlns:a="http://schemas.openxmlformats.org/drawingml/2006/main">
            <a:pPr algn="l">
              <a:defRPr sz="2550" b="1">
                <a:solidFill>
                  <a:srgbClr val="16343A"/>
                </a:solidFill>
                <a:latin typeface="Helvetica Neue"/>
                <a:ea typeface="Helvetica Neue"/>
                <a:cs typeface="Helvetica Neue"/>
              </a:defRPr>
            </a:pPr>
            <a:r>
              <a:rPr sz="2550" b="1">
                <a:solidFill>
                  <a:srgbClr val="16343A"/>
                </a:solidFill>
                <a:latin typeface="Helvetica Neue"/>
                <a:ea typeface="Helvetica Neue"/>
                <a:cs typeface="Helvetica Neue"/>
              </a:rPr>
              <a:t>Week 1 simulation passed</a:t>
            </a:r>
          </a:p>
        </p:txBody>
      </p:sp>
      <p:sp>
        <p:nvSpPr>
          <p:cNvPr id="5" name="open-gate">
            <a:extLst xmlns:a="http://schemas.openxmlformats.org/drawingml/2006/main">
              <a:ext uri="{FF2B5EF4-FFF2-40B4-BE49-F238E27FC236}">
                <a16:creationId xmlns:a16="http://schemas.microsoft.com/office/drawing/2014/main" id="{C8B4DDF6-F46A-4ABC-A873-DD5775C6197F}"/>
              </a:ext>
            </a:extLst>
          </p:cNvPr>
          <p:cNvSpPr>
            <a:spLocks xmlns:a="http://schemas.openxmlformats.org/drawingml/2006/main" noGrp="1"/>
          </p:cNvSpPr>
          <p:nvPr/>
        </p:nvSpPr>
        <p:spPr>
          <a:xfrm xmlns:a="http://schemas.openxmlformats.org/drawingml/2006/main">
            <a:off x="628650" y="53911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A34D29"/>
                </a:solidFill>
                <a:latin typeface="Helvetica Neue"/>
                <a:ea typeface="Helvetica Neue"/>
                <a:cs typeface="Helvetica Neue"/>
              </a:defRPr>
            </a:pPr>
            <a:r>
              <a:rPr sz="2550" b="1">
                <a:solidFill>
                  <a:srgbClr val="A34D29"/>
                </a:solidFill>
                <a:latin typeface="Helvetica Neue"/>
                <a:ea typeface="Helvetica Neue"/>
                <a:cs typeface="Helvetica Neue"/>
              </a:rPr>
              <a:t>Physical FPGA gate remains open</a:t>
            </a:r>
          </a:p>
        </p:txBody>
      </p:sp>
    </p:spTree>
    <p:extLst>
      <p:ext uri="{BB962C8B-B14F-4D97-AF65-F5344CB8AC3E}">
        <p14:creationId xmlns:p14="http://schemas.microsoft.com/office/powerpoint/2010/main" val="779311007"/>
      </p:ext>
    </p:extLst>
  </p:cSld>
</p:sld>
</file>

<file path=ppt/slides/slide2.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7" name="brand">
            <a:extLst xmlns:a="http://schemas.openxmlformats.org/drawingml/2006/main">
              <a:ext uri="{FF2B5EF4-FFF2-40B4-BE49-F238E27FC236}">
                <a16:creationId xmlns:a16="http://schemas.microsoft.com/office/drawing/2014/main" id="{4AA21CD3-B4DF-497A-BECD-37F67619759B}"/>
              </a:ext>
            </a:extLst>
          </p:cNvPr>
          <p:cNvSpPr>
            <a:spLocks xmlns:a="http://schemas.openxmlformats.org/drawingml/2006/main" noGrp="1"/>
          </p:cNvSpPr>
          <p:nvPr/>
        </p:nvSpPr>
        <p:spPr>
          <a:xfrm xmlns:a="http://schemas.openxmlformats.org/drawingml/2006/main">
            <a:off x="609600" y="285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76B70"/>
                </a:solidFill>
                <a:latin typeface="Helvetica Neue"/>
                <a:ea typeface="Helvetica Neue"/>
                <a:cs typeface="Helvetica Neue"/>
              </a:defRPr>
            </a:pPr>
            <a:r>
              <a:rPr sz="1200" b="1">
                <a:solidFill>
                  <a:srgbClr val="076B70"/>
                </a:solidFill>
                <a:latin typeface="Helvetica Neue"/>
                <a:ea typeface="Helvetica Neue"/>
                <a:cs typeface="Helvetica Neue"/>
              </a:rPr>
              <a:t>BONSAI-ON-CHIP</a:t>
            </a:r>
          </a:p>
        </p:txBody>
      </p:sp>
      <p:sp>
        <p:nvSpPr>
          <p:cNvPr id="2" name="page">
            <a:extLst xmlns:a="http://schemas.openxmlformats.org/drawingml/2006/main">
              <a:ext uri="{FF2B5EF4-FFF2-40B4-BE49-F238E27FC236}">
                <a16:creationId xmlns:a16="http://schemas.microsoft.com/office/drawing/2014/main" id="{30E80656-348F-4FF6-8E33-329658C14272}"/>
              </a:ext>
            </a:extLst>
          </p:cNvPr>
          <p:cNvSpPr>
            <a:spLocks xmlns:a="http://schemas.openxmlformats.org/drawingml/2006/main" noGrp="1"/>
          </p:cNvSpPr>
          <p:nvPr/>
        </p:nvSpPr>
        <p:spPr>
          <a:xfrm xmlns:a="http://schemas.openxmlformats.org/drawingml/2006/main">
            <a:off x="11049000" y="285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2666A"/>
                </a:solidFill>
                <a:latin typeface="Helvetica Neue"/>
                <a:ea typeface="Helvetica Neue"/>
                <a:cs typeface="Helvetica Neue"/>
              </a:defRPr>
            </a:pPr>
            <a:r>
              <a:rPr sz="1200" b="0">
                <a:solidFill>
                  <a:srgbClr val="52666A"/>
                </a:solidFill>
                <a:latin typeface="Helvetica Neue"/>
                <a:ea typeface="Helvetica Neue"/>
                <a:cs typeface="Helvetica Neue"/>
              </a:rPr>
              <a:t>02</a:t>
            </a:r>
          </a:p>
        </p:txBody>
      </p:sp>
      <p:sp>
        <p:nvSpPr>
          <p:cNvPr id="3" name="title">
            <a:extLst xmlns:a="http://schemas.openxmlformats.org/drawingml/2006/main">
              <a:ext uri="{FF2B5EF4-FFF2-40B4-BE49-F238E27FC236}">
                <a16:creationId xmlns:a16="http://schemas.microsoft.com/office/drawing/2014/main" id="{246D7647-6F23-4064-9959-C0780CFFF5B6}"/>
              </a:ext>
            </a:extLst>
          </p:cNvPr>
          <p:cNvSpPr>
            <a:spLocks xmlns:a="http://schemas.openxmlformats.org/drawingml/2006/main" noGrp="1"/>
          </p:cNvSpPr>
          <p:nvPr/>
        </p:nvSpPr>
        <p:spPr>
          <a:xfrm xmlns:a="http://schemas.openxmlformats.org/drawingml/2006/main">
            <a:off x="609600" y="7905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6343A"/>
                </a:solidFill>
                <a:latin typeface="Helvetica Neue"/>
                <a:ea typeface="Helvetica Neue"/>
                <a:cs typeface="Helvetica Neue"/>
              </a:defRPr>
            </a:pPr>
            <a:r>
              <a:rPr sz="3300" b="1">
                <a:solidFill>
                  <a:srgbClr val="16343A"/>
                </a:solidFill>
                <a:latin typeface="Helvetica Neue"/>
                <a:ea typeface="Helvetica Neue"/>
                <a:cs typeface="Helvetica Neue"/>
              </a:rPr>
              <a:t>Verified progress</a:t>
            </a:r>
          </a:p>
        </p:txBody>
      </p:sp>
      <p:sp>
        <p:nvSpPr>
          <p:cNvPr id="4" name="footer">
            <a:extLst xmlns:a="http://schemas.openxmlformats.org/drawingml/2006/main">
              <a:ext uri="{FF2B5EF4-FFF2-40B4-BE49-F238E27FC236}">
                <a16:creationId xmlns:a16="http://schemas.microsoft.com/office/drawing/2014/main" id="{69FA8CC1-7884-4ABE-800D-39C005F95A6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2666A"/>
                </a:solidFill>
                <a:latin typeface="Helvetica Neue"/>
                <a:ea typeface="Helvetica Neue"/>
                <a:cs typeface="Helvetica Neue"/>
              </a:defRPr>
            </a:pPr>
            <a:r>
              <a:rPr sz="1200" b="0">
                <a:solidFill>
                  <a:srgbClr val="52666A"/>
                </a:solidFill>
                <a:latin typeface="Helvetica Neue"/>
                <a:ea typeface="Helvetica Neue"/>
                <a:cs typeface="Helvetica Neue"/>
              </a:rPr>
              <a:t>30 Sep 2026  /  Team progress update</a:t>
            </a:r>
          </a:p>
        </p:txBody>
      </p:sp>
      <p:graphicFrame>
        <p:nvGraphicFramePr>
          <p:cNvPr id="11" name=""/>
          <p:cNvGraphicFramePr/>
          <p:nvPr/>
        </p:nvGraphicFramePr>
        <p:xfrm>
          <a:off xmlns:a="http://schemas.openxmlformats.org/drawingml/2006/main" x="609600" y="1704975"/>
          <a:ext xmlns:a="http://schemas.openxmlformats.org/drawingml/2006/main" cx="10972800" cy="3810000"/>
        </p:xfrm>
        <a:graphic xmlns:a="http://schemas.openxmlformats.org/drawingml/2006/main">
          <a:graphicData uri="http://schemas.openxmlformats.org/drawingml/2006/table">
            <a:tbl>
              <a:tblPr firstRow="1" bandRow="0"/>
              <a:tblGrid>
                <a:gridCol w="3143250"/>
                <a:gridCol w="3571875"/>
                <a:gridCol w="4257675"/>
              </a:tblGrid>
              <a:tr h="457200">
                <a:tc>
                  <a:txBody>
                    <a:bodyPr wrap="square" lIns="114300" tIns="95250" rIns="114300" bIns="95250">
                      <a:noAutofit/>
                    </a:bodyPr>
                    <a:lstStyle/>
                    <a:p>
                      <a:r>
                        <a:rPr sz="1350" b="1">
                          <a:solidFill>
                            <a:srgbClr val="FFFFFF"/>
                          </a:solidFill>
                          <a:latin typeface="Helvetica Neue"/>
                          <a:ea typeface="Helvetica Neue"/>
                          <a:cs typeface="Helvetica Neue"/>
                        </a:rPr>
                        <a:t>EVIDENCE CLASS</a:t>
                      </a:r>
                    </a:p>
                  </a:txBody>
                  <a:tcPr marL="91440" marR="91440" marT="45720" marB="45720" anchor="ctr">
                    <a:solidFill>
                      <a:srgbClr val="16343A"/>
                    </a:solidFill>
                  </a:tcPr>
                </a:tc>
                <a:tc>
                  <a:txBody>
                    <a:bodyPr wrap="square" lIns="114300" tIns="95250" rIns="114300" bIns="95250">
                      <a:noAutofit/>
                    </a:bodyPr>
                    <a:lstStyle/>
                    <a:p>
                      <a:r>
                        <a:rPr sz="1350" b="1">
                          <a:solidFill>
                            <a:srgbClr val="FFFFFF"/>
                          </a:solidFill>
                          <a:latin typeface="Helvetica Neue"/>
                          <a:ea typeface="Helvetica Neue"/>
                          <a:cs typeface="Helvetica Neue"/>
                        </a:rPr>
                        <a:t>VERIFIED RESULT</a:t>
                      </a:r>
                    </a:p>
                  </a:txBody>
                  <a:tcPr marL="91440" marR="91440" marT="45720" marB="45720" anchor="ctr">
                    <a:solidFill>
                      <a:srgbClr val="16343A"/>
                    </a:solidFill>
                  </a:tcPr>
                </a:tc>
                <a:tc>
                  <a:txBody>
                    <a:bodyPr wrap="square" lIns="114300" tIns="95250" rIns="114300" bIns="95250">
                      <a:noAutofit/>
                    </a:bodyPr>
                    <a:lstStyle/>
                    <a:p>
                      <a:r>
                        <a:rPr sz="1350" b="1">
                          <a:solidFill>
                            <a:srgbClr val="FFFFFF"/>
                          </a:solidFill>
                          <a:latin typeface="Helvetica Neue"/>
                          <a:ea typeface="Helvetica Neue"/>
                          <a:cs typeface="Helvetica Neue"/>
                        </a:rPr>
                        <a:t>SCOPE</a:t>
                      </a:r>
                    </a:p>
                  </a:txBody>
                  <a:tcPr marL="91440" marR="91440" marT="45720" marB="45720" anchor="ctr">
                    <a:solidFill>
                      <a:srgbClr val="16343A"/>
                    </a:solidFill>
                  </a:tcPr>
                </a:tc>
              </a:tr>
              <a:tr h="838200">
                <a:tc>
                  <a:txBody>
                    <a:bodyPr wrap="square" lIns="114300" tIns="95250" rIns="114300" bIns="95250">
                      <a:noAutofit/>
                    </a:bodyPr>
                    <a:lstStyle/>
                    <a:p>
                      <a:r>
                        <a:rPr sz="1800" b="1">
                          <a:solidFill>
                            <a:srgbClr val="16343A"/>
                          </a:solidFill>
                          <a:latin typeface="Helvetica Neue"/>
                          <a:ea typeface="Helvetica Neue"/>
                          <a:cs typeface="Helvetica Neue"/>
                        </a:rPr>
                        <a:t>Week 0 native suite</a:t>
                      </a:r>
                    </a:p>
                  </a:txBody>
                  <a:tcPr marL="91440" marR="91440" marT="45720" marB="45720" anchor="ctr">
                    <a:solidFill>
                      <a:srgbClr val="F7F5EE"/>
                    </a:solidFill>
                  </a:tcPr>
                </a:tc>
                <a:tc>
                  <a:txBody>
                    <a:bodyPr wrap="square" lIns="114300" tIns="95250" rIns="114300" bIns="95250">
                      <a:noAutofit/>
                    </a:bodyPr>
                    <a:lstStyle/>
                    <a:p>
                      <a:r>
                        <a:rPr sz="1800" b="0">
                          <a:solidFill>
                            <a:srgbClr val="16343A"/>
                          </a:solidFill>
                          <a:latin typeface="Helvetica Neue"/>
                          <a:ea typeface="Helvetica Neue"/>
                          <a:cs typeface="Helvetica Neue"/>
                        </a:rPr>
                        <a:t>1,332 selected targets</a:t>
                      </a:r>
                    </a:p>
                  </a:txBody>
                  <a:tcPr marL="91440" marR="91440" marT="45720" marB="45720" anchor="ctr">
                    <a:solidFill>
                      <a:srgbClr val="F7F5EE"/>
                    </a:solidFill>
                  </a:tcPr>
                </a:tc>
                <a:tc>
                  <a:txBody>
                    <a:bodyPr wrap="square" lIns="114300" tIns="95250" rIns="114300" bIns="95250">
                      <a:noAutofit/>
                    </a:bodyPr>
                    <a:lstStyle/>
                    <a:p>
                      <a:r>
                        <a:rPr sz="1800" b="0">
                          <a:solidFill>
                            <a:srgbClr val="16343A"/>
                          </a:solidFill>
                          <a:latin typeface="Helvetica Neue"/>
                          <a:ea typeface="Helvetica Neue"/>
                          <a:cs typeface="Helvetica Neue"/>
                        </a:rPr>
                        <a:t>1,046 fresh + 286 cached</a:t>
                      </a:r>
                    </a:p>
                  </a:txBody>
                  <a:tcPr marL="91440" marR="91440" marT="45720" marB="45720" anchor="ctr">
                    <a:solidFill>
                      <a:srgbClr val="F7F5EE"/>
                    </a:solidFill>
                  </a:tcPr>
                </a:tc>
              </a:tr>
              <a:tr h="838200">
                <a:tc>
                  <a:txBody>
                    <a:bodyPr wrap="square" lIns="114300" tIns="95250" rIns="114300" bIns="95250">
                      <a:noAutofit/>
                    </a:bodyPr>
                    <a:lstStyle/>
                    <a:p>
                      <a:r>
                        <a:rPr sz="1800" b="1">
                          <a:solidFill>
                            <a:srgbClr val="16343A"/>
                          </a:solidFill>
                          <a:latin typeface="Helvetica Neue"/>
                          <a:ea typeface="Helvetica Neue"/>
                          <a:cs typeface="Helvetica Neue"/>
                        </a:rPr>
                        <a:t>Vendor environment</a:t>
                      </a:r>
                    </a:p>
                  </a:txBody>
                  <a:tcPr marL="91440" marR="91440" marT="45720" marB="45720" anchor="ctr">
                    <a:solidFill>
                      <a:srgbClr val="F7F5EE"/>
                    </a:solidFill>
                  </a:tcPr>
                </a:tc>
                <a:tc>
                  <a:txBody>
                    <a:bodyPr wrap="square" lIns="114300" tIns="95250" rIns="114300" bIns="95250">
                      <a:noAutofit/>
                    </a:bodyPr>
                    <a:lstStyle/>
                    <a:p>
                      <a:r>
                        <a:rPr sz="1800" b="0">
                          <a:solidFill>
                            <a:srgbClr val="16343A"/>
                          </a:solidFill>
                          <a:latin typeface="Helvetica Neue"/>
                          <a:ea typeface="Helvetica Neue"/>
                          <a:cs typeface="Helvetica Neue"/>
                        </a:rPr>
                        <a:t>9/9 XSIM tests</a:t>
                      </a:r>
                    </a:p>
                    <a:p>
                      <a:r>
                        <a:rPr sz="1800" b="0">
                          <a:solidFill>
                            <a:srgbClr val="16343A"/>
                          </a:solidFill>
                          <a:latin typeface="Helvetica Neue"/>
                          <a:ea typeface="Helvetica Neue"/>
                          <a:cs typeface="Helvetica Neue"/>
                        </a:rPr>
                        <a:t>2,264 F2 additions</a:t>
                      </a:r>
                    </a:p>
                  </a:txBody>
                  <a:tcPr marL="91440" marR="91440" marT="45720" marB="45720" anchor="ctr">
                    <a:solidFill>
                      <a:srgbClr val="F7F5EE"/>
                    </a:solidFill>
                  </a:tcPr>
                </a:tc>
                <a:tc>
                  <a:txBody>
                    <a:bodyPr wrap="square" lIns="114300" tIns="95250" rIns="114300" bIns="95250">
                      <a:noAutofit/>
                    </a:bodyPr>
                    <a:lstStyle/>
                    <a:p>
                      <a:r>
                        <a:rPr sz="1800" b="0">
                          <a:solidFill>
                            <a:srgbClr val="16343A"/>
                          </a:solidFill>
                          <a:latin typeface="Helvetica Neue"/>
                          <a:ea typeface="Helvetica Neue"/>
                          <a:cs typeface="Helvetica Neue"/>
                        </a:rPr>
                        <a:t>Simulation + vendor hardware</a:t>
                      </a:r>
                    </a:p>
                  </a:txBody>
                  <a:tcPr marL="91440" marR="91440" marT="45720" marB="45720" anchor="ctr">
                    <a:solidFill>
                      <a:srgbClr val="F7F5EE"/>
                    </a:solidFill>
                  </a:tcPr>
                </a:tc>
              </a:tr>
              <a:tr h="838200">
                <a:tc>
                  <a:txBody>
                    <a:bodyPr wrap="square" lIns="114300" tIns="95250" rIns="114300" bIns="95250">
                      <a:noAutofit/>
                    </a:bodyPr>
                    <a:lstStyle/>
                    <a:p>
                      <a:r>
                        <a:rPr sz="1800" b="1">
                          <a:solidFill>
                            <a:srgbClr val="16343A"/>
                          </a:solidFill>
                          <a:latin typeface="Helvetica Neue"/>
                          <a:ea typeface="Helvetica Neue"/>
                          <a:cs typeface="Helvetica Neue"/>
                        </a:rPr>
                        <a:t>Week 1 local first slice</a:t>
                      </a:r>
                    </a:p>
                  </a:txBody>
                  <a:tcPr marL="91440" marR="91440" marT="45720" marB="45720" anchor="ctr">
                    <a:solidFill>
                      <a:srgbClr val="F7F5EE"/>
                    </a:solidFill>
                  </a:tcPr>
                </a:tc>
                <a:tc>
                  <a:txBody>
                    <a:bodyPr wrap="square" lIns="114300" tIns="95250" rIns="114300" bIns="95250">
                      <a:noAutofit/>
                    </a:bodyPr>
                    <a:lstStyle/>
                    <a:p>
                      <a:r>
                        <a:rPr sz="1800" b="0">
                          <a:solidFill>
                            <a:srgbClr val="16343A"/>
                          </a:solidFill>
                          <a:latin typeface="Helvetica Neue"/>
                          <a:ea typeface="Helvetica Neue"/>
                          <a:cs typeface="Helvetica Neue"/>
                        </a:rPr>
                        <a:t>16 steps</a:t>
                      </a:r>
                    </a:p>
                    <a:p>
                      <a:r>
                        <a:rPr sz="1800" b="0">
                          <a:solidFill>
                            <a:srgbClr val="16343A"/>
                          </a:solidFill>
                          <a:latin typeface="Helvetica Neue"/>
                          <a:ea typeface="Helvetica Neue"/>
                          <a:cs typeface="Helvetica Neue"/>
                        </a:rPr>
                        <a:t>396 native + 6 synthetic</a:t>
                      </a:r>
                    </a:p>
                  </a:txBody>
                  <a:tcPr marL="91440" marR="91440" marT="45720" marB="45720" anchor="ctr">
                    <a:solidFill>
                      <a:srgbClr val="F7F5EE"/>
                    </a:solidFill>
                  </a:tcPr>
                </a:tc>
                <a:tc>
                  <a:txBody>
                    <a:bodyPr wrap="square" lIns="114300" tIns="95250" rIns="114300" bIns="95250">
                      <a:noAutofit/>
                    </a:bodyPr>
                    <a:lstStyle/>
                    <a:p>
                      <a:r>
                        <a:rPr sz="1800" b="0">
                          <a:solidFill>
                            <a:srgbClr val="16343A"/>
                          </a:solidFill>
                          <a:latin typeface="Helvetica Neue"/>
                          <a:ea typeface="Helvetica Neue"/>
                          <a:cs typeface="Helvetica Neue"/>
                        </a:rPr>
                        <a:t>242,357,184 bytes</a:t>
                      </a:r>
                    </a:p>
                    <a:p>
                      <a:r>
                        <a:rPr sz="1800" b="0">
                          <a:solidFill>
                            <a:srgbClr val="16343A"/>
                          </a:solidFill>
                          <a:latin typeface="Helvetica Neue"/>
                          <a:ea typeface="Helvetica Neue"/>
                          <a:cs typeface="Helvetica Neue"/>
                        </a:rPr>
                        <a:t>Two full readback hashes</a:t>
                      </a:r>
                    </a:p>
                  </a:txBody>
                  <a:tcPr marL="91440" marR="91440" marT="45720" marB="45720" anchor="ctr">
                    <a:solidFill>
                      <a:srgbClr val="F7F5EE"/>
                    </a:solidFill>
                  </a:tcPr>
                </a:tc>
              </a:tr>
              <a:tr h="838200">
                <a:tc>
                  <a:txBody>
                    <a:bodyPr wrap="square" lIns="114300" tIns="95250" rIns="114300" bIns="95250">
                      <a:noAutofit/>
                    </a:bodyPr>
                    <a:lstStyle/>
                    <a:p>
                      <a:r>
                        <a:rPr sz="1800" b="1">
                          <a:solidFill>
                            <a:srgbClr val="16343A"/>
                          </a:solidFill>
                          <a:latin typeface="Helvetica Neue"/>
                          <a:ea typeface="Helvetica Neue"/>
                          <a:cs typeface="Helvetica Neue"/>
                        </a:rPr>
                        <a:t>Custom F2-target XSIM</a:t>
                      </a:r>
                    </a:p>
                  </a:txBody>
                  <a:tcPr marL="91440" marR="91440" marT="45720" marB="45720" anchor="ctr">
                    <a:solidFill>
                      <a:srgbClr val="F7F5EE"/>
                    </a:solidFill>
                  </a:tcPr>
                </a:tc>
                <a:tc>
                  <a:txBody>
                    <a:bodyPr wrap="square" lIns="114300" tIns="95250" rIns="114300" bIns="95250">
                      <a:noAutofit/>
                    </a:bodyPr>
                    <a:lstStyle/>
                    <a:p>
                      <a:r>
                        <a:rPr sz="1800" b="0">
                          <a:solidFill>
                            <a:srgbClr val="16343A"/>
                          </a:solidFill>
                          <a:latin typeface="Helvetica Neue"/>
                          <a:ea typeface="Helvetica Neue"/>
                          <a:cs typeface="Helvetica Neue"/>
                        </a:rPr>
                        <a:t>87 explicit checks</a:t>
                      </a:r>
                    </a:p>
                    <a:p>
                      <a:r>
                        <a:rPr sz="1800" b="0">
                          <a:solidFill>
                            <a:srgbClr val="16343A"/>
                          </a:solidFill>
                          <a:latin typeface="Helvetica Neue"/>
                          <a:ea typeface="Helvetica Neue"/>
                          <a:cs typeface="Helvetica Neue"/>
                        </a:rPr>
                        <a:t>3 real Q1 + 1 synthetic</a:t>
                      </a:r>
                    </a:p>
                  </a:txBody>
                  <a:tcPr marL="91440" marR="91440" marT="45720" marB="45720" anchor="ctr">
                    <a:solidFill>
                      <a:srgbClr val="F7F5EE"/>
                    </a:solidFill>
                  </a:tcPr>
                </a:tc>
                <a:tc>
                  <a:txBody>
                    <a:bodyPr wrap="square" lIns="114300" tIns="95250" rIns="114300" bIns="95250">
                      <a:noAutofit/>
                    </a:bodyPr>
                    <a:lstStyle/>
                    <a:p>
                      <a:r>
                        <a:rPr sz="1800" b="0">
                          <a:solidFill>
                            <a:srgbClr val="16343A"/>
                          </a:solidFill>
                          <a:latin typeface="Helvetica Neue"/>
                          <a:ea typeface="Helvetica Neue"/>
                          <a:cs typeface="Helvetica Neue"/>
                        </a:rPr>
                        <a:t>4,160-byte compact image</a:t>
                      </a:r>
                    </a:p>
                  </a:txBody>
                  <a:tcPr marL="91440" marR="91440" marT="45720" marB="45720" anchor="ctr">
                    <a:solidFill>
                      <a:srgbClr val="F7F5EE"/>
                    </a:solidFill>
                  </a:tcPr>
                </a:tc>
              </a:tr>
            </a:tbl>
          </a:graphicData>
        </a:graphic>
      </p:graphicFrame>
      <p:sp>
        <p:nvSpPr>
          <p:cNvPr id="6" name="evidence-boundary">
            <a:extLst xmlns:a="http://schemas.openxmlformats.org/drawingml/2006/main">
              <a:ext uri="{FF2B5EF4-FFF2-40B4-BE49-F238E27FC236}">
                <a16:creationId xmlns:a16="http://schemas.microsoft.com/office/drawing/2014/main" id="{2100B22C-4CA4-4AD5-BC8B-6296AC9C7512}"/>
              </a:ext>
            </a:extLst>
          </p:cNvPr>
          <p:cNvSpPr>
            <a:spLocks xmlns:a="http://schemas.openxmlformats.org/drawingml/2006/main" noGrp="1"/>
          </p:cNvSpPr>
          <p:nvPr/>
        </p:nvSpPr>
        <p:spPr>
          <a:xfrm xmlns:a="http://schemas.openxmlformats.org/drawingml/2006/main">
            <a:off x="609600" y="5829300"/>
            <a:ext cx="10810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66A"/>
                </a:solidFill>
                <a:latin typeface="Helvetica Neue"/>
                <a:ea typeface="Helvetica Neue"/>
                <a:cs typeface="Helvetica Neue"/>
              </a:defRPr>
            </a:pPr>
            <a:r>
              <a:rPr sz="1725" b="0">
                <a:solidFill>
                  <a:srgbClr val="52666A"/>
                </a:solidFill>
                <a:latin typeface="Helvetica Neue"/>
                <a:ea typeface="Helvetica Neue"/>
                <a:cs typeface="Helvetica Neue"/>
              </a:rPr>
              <a:t>The custom Bonsai evidence covers simulation. Full-model inference remains unvalidated.</a:t>
            </a:r>
          </a:p>
        </p:txBody>
      </p:sp>
    </p:spTree>
    <p:extLst>
      <p:ext uri="{BB962C8B-B14F-4D97-AF65-F5344CB8AC3E}">
        <p14:creationId xmlns:p14="http://schemas.microsoft.com/office/powerpoint/2010/main" val="837783529"/>
      </p:ext>
    </p:extLst>
  </p:cSld>
</p:sld>
</file>

<file path=ppt/slides/slide3.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11" name="brand">
            <a:extLst xmlns:a="http://schemas.openxmlformats.org/drawingml/2006/main">
              <a:ext uri="{FF2B5EF4-FFF2-40B4-BE49-F238E27FC236}">
                <a16:creationId xmlns:a16="http://schemas.microsoft.com/office/drawing/2014/main" id="{CAFFB2DA-B0C1-4D5D-8C63-E184309941F8}"/>
              </a:ext>
            </a:extLst>
          </p:cNvPr>
          <p:cNvSpPr>
            <a:spLocks xmlns:a="http://schemas.openxmlformats.org/drawingml/2006/main" noGrp="1"/>
          </p:cNvSpPr>
          <p:nvPr/>
        </p:nvSpPr>
        <p:spPr>
          <a:xfrm xmlns:a="http://schemas.openxmlformats.org/drawingml/2006/main">
            <a:off x="609600" y="285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76B70"/>
                </a:solidFill>
                <a:latin typeface="Helvetica Neue"/>
                <a:ea typeface="Helvetica Neue"/>
                <a:cs typeface="Helvetica Neue"/>
              </a:defRPr>
            </a:pPr>
            <a:r>
              <a:rPr sz="1200" b="1">
                <a:solidFill>
                  <a:srgbClr val="076B70"/>
                </a:solidFill>
                <a:latin typeface="Helvetica Neue"/>
                <a:ea typeface="Helvetica Neue"/>
                <a:cs typeface="Helvetica Neue"/>
              </a:rPr>
              <a:t>BONSAI-ON-CHIP</a:t>
            </a:r>
          </a:p>
        </p:txBody>
      </p:sp>
      <p:sp>
        <p:nvSpPr>
          <p:cNvPr id="2" name="page">
            <a:extLst xmlns:a="http://schemas.openxmlformats.org/drawingml/2006/main">
              <a:ext uri="{FF2B5EF4-FFF2-40B4-BE49-F238E27FC236}">
                <a16:creationId xmlns:a16="http://schemas.microsoft.com/office/drawing/2014/main" id="{99588192-48FD-43FA-9BAD-6BD6B25D5988}"/>
              </a:ext>
            </a:extLst>
          </p:cNvPr>
          <p:cNvSpPr>
            <a:spLocks xmlns:a="http://schemas.openxmlformats.org/drawingml/2006/main" noGrp="1"/>
          </p:cNvSpPr>
          <p:nvPr/>
        </p:nvSpPr>
        <p:spPr>
          <a:xfrm xmlns:a="http://schemas.openxmlformats.org/drawingml/2006/main">
            <a:off x="11049000" y="285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2666A"/>
                </a:solidFill>
                <a:latin typeface="Helvetica Neue"/>
                <a:ea typeface="Helvetica Neue"/>
                <a:cs typeface="Helvetica Neue"/>
              </a:defRPr>
            </a:pPr>
            <a:r>
              <a:rPr sz="1200" b="0">
                <a:solidFill>
                  <a:srgbClr val="52666A"/>
                </a:solidFill>
                <a:latin typeface="Helvetica Neue"/>
                <a:ea typeface="Helvetica Neue"/>
                <a:cs typeface="Helvetica Neue"/>
              </a:rPr>
              <a:t>03</a:t>
            </a:r>
          </a:p>
        </p:txBody>
      </p:sp>
      <p:sp>
        <p:nvSpPr>
          <p:cNvPr id="3" name="title">
            <a:extLst xmlns:a="http://schemas.openxmlformats.org/drawingml/2006/main">
              <a:ext uri="{FF2B5EF4-FFF2-40B4-BE49-F238E27FC236}">
                <a16:creationId xmlns:a16="http://schemas.microsoft.com/office/drawing/2014/main" id="{1B50CC02-5B77-438A-A1F7-4BD61452DEC9}"/>
              </a:ext>
            </a:extLst>
          </p:cNvPr>
          <p:cNvSpPr>
            <a:spLocks xmlns:a="http://schemas.openxmlformats.org/drawingml/2006/main" noGrp="1"/>
          </p:cNvSpPr>
          <p:nvPr/>
        </p:nvSpPr>
        <p:spPr>
          <a:xfrm xmlns:a="http://schemas.openxmlformats.org/drawingml/2006/main">
            <a:off x="609600" y="7905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6343A"/>
                </a:solidFill>
                <a:latin typeface="Helvetica Neue"/>
                <a:ea typeface="Helvetica Neue"/>
                <a:cs typeface="Helvetica Neue"/>
              </a:defRPr>
            </a:pPr>
            <a:r>
              <a:rPr sz="3300" b="1">
                <a:solidFill>
                  <a:srgbClr val="16343A"/>
                </a:solidFill>
                <a:latin typeface="Helvetica Neue"/>
                <a:ea typeface="Helvetica Neue"/>
                <a:cs typeface="Helvetica Neue"/>
              </a:rPr>
              <a:t>F2 execution and simulation rates</a:t>
            </a:r>
          </a:p>
        </p:txBody>
      </p:sp>
      <p:sp>
        <p:nvSpPr>
          <p:cNvPr id="4" name="footer">
            <a:extLst xmlns:a="http://schemas.openxmlformats.org/drawingml/2006/main">
              <a:ext uri="{FF2B5EF4-FFF2-40B4-BE49-F238E27FC236}">
                <a16:creationId xmlns:a16="http://schemas.microsoft.com/office/drawing/2014/main" id="{6F4A3DBF-9964-45A8-BDEA-A6850C2594D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2666A"/>
                </a:solidFill>
                <a:latin typeface="Helvetica Neue"/>
                <a:ea typeface="Helvetica Neue"/>
                <a:cs typeface="Helvetica Neue"/>
              </a:defRPr>
            </a:pPr>
            <a:r>
              <a:rPr sz="1200" b="0">
                <a:solidFill>
                  <a:srgbClr val="52666A"/>
                </a:solidFill>
                <a:latin typeface="Helvetica Neue"/>
                <a:ea typeface="Helvetica Neue"/>
                <a:cs typeface="Helvetica Neue"/>
              </a:rPr>
              <a:t>30 Sep 2026  /  Team progress update</a:t>
            </a:r>
          </a:p>
        </p:txBody>
      </p:sp>
      <p:sp>
        <p:nvSpPr>
          <p:cNvPr id="5" name="status">
            <a:extLst xmlns:a="http://schemas.openxmlformats.org/drawingml/2006/main">
              <a:ext uri="{FF2B5EF4-FFF2-40B4-BE49-F238E27FC236}">
                <a16:creationId xmlns:a16="http://schemas.microsoft.com/office/drawing/2014/main" id="{43530C71-A195-4E79-9BDA-D5C5C81A750E}"/>
              </a:ext>
            </a:extLst>
          </p:cNvPr>
          <p:cNvSpPr>
            <a:spLocks xmlns:a="http://schemas.openxmlformats.org/drawingml/2006/main" noGrp="1"/>
          </p:cNvSpPr>
          <p:nvPr/>
        </p:nvSpPr>
        <p:spPr>
          <a:xfrm xmlns:a="http://schemas.openxmlformats.org/drawingml/2006/main">
            <a:off x="609600" y="16097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76B70"/>
                </a:solidFill>
                <a:latin typeface="Helvetica Neue"/>
                <a:ea typeface="Helvetica Neue"/>
                <a:cs typeface="Helvetica Neue"/>
              </a:defRPr>
            </a:pPr>
            <a:r>
              <a:rPr sz="2175" b="1">
                <a:solidFill>
                  <a:srgbClr val="076B70"/>
                </a:solidFill>
                <a:latin typeface="Helvetica Neue"/>
                <a:ea typeface="Helvetica Neue"/>
                <a:cs typeface="Helvetica Neue"/>
              </a:rPr>
              <a:t>Custom XSIM and pinned SDK build passed</a:t>
            </a:r>
          </a:p>
        </p:txBody>
      </p:sp>
      <p:sp>
        <p:nvSpPr>
          <p:cNvPr id="6" name="live-status">
            <a:extLst xmlns:a="http://schemas.openxmlformats.org/drawingml/2006/main">
              <a:ext uri="{FF2B5EF4-FFF2-40B4-BE49-F238E27FC236}">
                <a16:creationId xmlns:a16="http://schemas.microsoft.com/office/drawing/2014/main" id="{B23E2F25-D34A-4749-9C23-6A0F53F262E0}"/>
              </a:ext>
            </a:extLst>
          </p:cNvPr>
          <p:cNvSpPr>
            <a:spLocks xmlns:a="http://schemas.openxmlformats.org/drawingml/2006/main" noGrp="1"/>
          </p:cNvSpPr>
          <p:nvPr/>
        </p:nvSpPr>
        <p:spPr>
          <a:xfrm xmlns:a="http://schemas.openxmlformats.org/drawingml/2006/main">
            <a:off x="609600" y="206692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6343A"/>
                </a:solidFill>
                <a:latin typeface="Helvetica Neue"/>
                <a:ea typeface="Helvetica Neue"/>
                <a:cs typeface="Helvetica Neue"/>
              </a:defRPr>
            </a:pPr>
            <a:r>
              <a:rPr sz="1875" b="0">
                <a:solidFill>
                  <a:srgbClr val="16343A"/>
                </a:solidFill>
                <a:latin typeface="Helvetica Neue"/>
                <a:ea typeface="Helvetica Neue"/>
                <a:cs typeface="Helvetica Neue"/>
              </a:rPr>
              <a:t>Synthesis and placement complete. Routing active at 17:40 UTC.</a:t>
            </a:r>
          </a:p>
        </p:txBody>
      </p:sp>
      <p:graphicFrame>
        <p:nvGraphicFramePr>
          <p:cNvPr id="17" name=""/>
          <p:cNvGraphicFramePr/>
          <p:nvPr/>
        </p:nvGraphicFramePr>
        <p:xfrm>
          <a:off xmlns:a="http://schemas.openxmlformats.org/drawingml/2006/main" x="609600" y="2619375"/>
          <a:ext xmlns:a="http://schemas.openxmlformats.org/drawingml/2006/main" cx="10972800" cy="2657475"/>
        </p:xfrm>
        <a:graphic xmlns:a="http://schemas.openxmlformats.org/drawingml/2006/main">
          <a:graphicData uri="http://schemas.openxmlformats.org/drawingml/2006/table">
            <a:tbl>
              <a:tblPr firstRow="1" bandRow="0"/>
              <a:tblGrid>
                <a:gridCol w="3219450"/>
                <a:gridCol w="3028950"/>
                <a:gridCol w="4724400"/>
              </a:tblGrid>
              <a:tr h="457200">
                <a:tc>
                  <a:txBody>
                    <a:bodyPr wrap="square" lIns="114300" tIns="95250" rIns="114300" bIns="95250">
                      <a:noAutofit/>
                    </a:bodyPr>
                    <a:lstStyle/>
                    <a:p>
                      <a:r>
                        <a:rPr sz="1350" b="1">
                          <a:solidFill>
                            <a:srgbClr val="FFFFFF"/>
                          </a:solidFill>
                          <a:latin typeface="Helvetica Neue"/>
                          <a:ea typeface="Helvetica Neue"/>
                          <a:cs typeface="Helvetica Neue"/>
                        </a:rPr>
                        <a:t>MEASURE</a:t>
                      </a:r>
                    </a:p>
                  </a:txBody>
                  <a:tcPr marL="91440" marR="91440" marT="45720" marB="45720" anchor="ctr">
                    <a:solidFill>
                      <a:srgbClr val="16343A"/>
                    </a:solidFill>
                  </a:tcPr>
                </a:tc>
                <a:tc>
                  <a:txBody>
                    <a:bodyPr wrap="square" lIns="114300" tIns="95250" rIns="114300" bIns="95250">
                      <a:noAutofit/>
                    </a:bodyPr>
                    <a:lstStyle/>
                    <a:p>
                      <a:r>
                        <a:rPr sz="1350" b="1">
                          <a:solidFill>
                            <a:srgbClr val="FFFFFF"/>
                          </a:solidFill>
                          <a:latin typeface="Helvetica Neue"/>
                          <a:ea typeface="Helvetica Neue"/>
                          <a:cs typeface="Helvetica Neue"/>
                        </a:rPr>
                        <a:t>VALUE</a:t>
                      </a:r>
                    </a:p>
                  </a:txBody>
                  <a:tcPr marL="91440" marR="91440" marT="45720" marB="45720" anchor="ctr">
                    <a:solidFill>
                      <a:srgbClr val="16343A"/>
                    </a:solidFill>
                  </a:tcPr>
                </a:tc>
                <a:tc>
                  <a:txBody>
                    <a:bodyPr wrap="square" lIns="114300" tIns="95250" rIns="114300" bIns="95250">
                      <a:noAutofit/>
                    </a:bodyPr>
                    <a:lstStyle/>
                    <a:p>
                      <a:r>
                        <a:rPr sz="1350" b="1">
                          <a:solidFill>
                            <a:srgbClr val="FFFFFF"/>
                          </a:solidFill>
                          <a:latin typeface="Helvetica Neue"/>
                          <a:ea typeface="Helvetica Neue"/>
                          <a:cs typeface="Helvetica Neue"/>
                        </a:rPr>
                        <a:t>INTERPRETATION</a:t>
                      </a:r>
                    </a:p>
                  </a:txBody>
                  <a:tcPr marL="91440" marR="91440" marT="45720" marB="45720" anchor="ctr">
                    <a:solidFill>
                      <a:srgbClr val="16343A"/>
                    </a:solidFill>
                  </a:tcPr>
                </a:tc>
              </a:tr>
              <a:tr h="550069">
                <a:tc>
                  <a:txBody>
                    <a:bodyPr wrap="square" lIns="114300" tIns="95250" rIns="114300" bIns="95250">
                      <a:noAutofit/>
                    </a:bodyPr>
                    <a:lstStyle/>
                    <a:p>
                      <a:r>
                        <a:rPr sz="1725" b="1">
                          <a:solidFill>
                            <a:srgbClr val="16343A"/>
                          </a:solidFill>
                          <a:latin typeface="Helvetica Neue"/>
                          <a:ea typeface="Helvetica Neue"/>
                          <a:cs typeface="Helvetica Neue"/>
                        </a:rPr>
                        <a:t>Verilator workflow</a:t>
                      </a:r>
                    </a:p>
                  </a:txBody>
                  <a:tcPr marL="91440" marR="91440" marT="45720" marB="45720" anchor="ctr">
                    <a:solidFill>
                      <a:srgbClr val="F7F5EE"/>
                    </a:solidFill>
                  </a:tcPr>
                </a:tc>
                <a:tc>
                  <a:txBody>
                    <a:bodyPr wrap="square" lIns="114300" tIns="95250" rIns="114300" bIns="95250">
                      <a:noAutofit/>
                    </a:bodyPr>
                    <a:lstStyle/>
                    <a:p>
                      <a:r>
                        <a:rPr sz="1725" b="0">
                          <a:solidFill>
                            <a:srgbClr val="16343A"/>
                          </a:solidFill>
                          <a:latin typeface="Helvetica Neue"/>
                          <a:ea typeface="Helvetica Neue"/>
                          <a:cs typeface="Helvetica Neue"/>
                        </a:rPr>
                        <a:t>~3.42M cycles/sec</a:t>
                      </a:r>
                    </a:p>
                  </a:txBody>
                  <a:tcPr marL="91440" marR="91440" marT="45720" marB="45720" anchor="ctr">
                    <a:solidFill>
                      <a:srgbClr val="F7F5EE"/>
                    </a:solidFill>
                  </a:tcPr>
                </a:tc>
                <a:tc>
                  <a:txBody>
                    <a:bodyPr wrap="square" lIns="114300" tIns="95250" rIns="114300" bIns="95250">
                      <a:noAutofit/>
                    </a:bodyPr>
                    <a:lstStyle/>
                    <a:p>
                      <a:r>
                        <a:rPr sz="1725" b="0">
                          <a:solidFill>
                            <a:srgbClr val="16343A"/>
                          </a:solidFill>
                          <a:latin typeface="Helvetica Neue"/>
                          <a:ea typeface="Helvetica Neue"/>
                          <a:cs typeface="Helvetica Neue"/>
                        </a:rPr>
                        <a:t>99,098,552 cycles / 29.017 sec</a:t>
                      </a:r>
                    </a:p>
                  </a:txBody>
                  <a:tcPr marL="91440" marR="91440" marT="45720" marB="45720" anchor="ctr">
                    <a:solidFill>
                      <a:srgbClr val="F7F5EE"/>
                    </a:solidFill>
                  </a:tcPr>
                </a:tc>
              </a:tr>
              <a:tr h="550069">
                <a:tc>
                  <a:txBody>
                    <a:bodyPr wrap="square" lIns="114300" tIns="95250" rIns="114300" bIns="95250">
                      <a:noAutofit/>
                    </a:bodyPr>
                    <a:lstStyle/>
                    <a:p>
                      <a:r>
                        <a:rPr sz="1725" b="1">
                          <a:solidFill>
                            <a:srgbClr val="16343A"/>
                          </a:solidFill>
                          <a:latin typeface="Helvetica Neue"/>
                          <a:ea typeface="Helvetica Neue"/>
                          <a:cs typeface="Helvetica Neue"/>
                        </a:rPr>
                        <a:t>DOT128 local latency</a:t>
                      </a:r>
                    </a:p>
                  </a:txBody>
                  <a:tcPr marL="91440" marR="91440" marT="45720" marB="45720" anchor="ctr">
                    <a:solidFill>
                      <a:srgbClr val="F7F5EE"/>
                    </a:solidFill>
                  </a:tcPr>
                </a:tc>
                <a:tc>
                  <a:txBody>
                    <a:bodyPr wrap="square" lIns="114300" tIns="95250" rIns="114300" bIns="95250">
                      <a:noAutofit/>
                    </a:bodyPr>
                    <a:lstStyle/>
                    <a:p>
                      <a:r>
                        <a:rPr sz="1725" b="0">
                          <a:solidFill>
                            <a:srgbClr val="16343A"/>
                          </a:solidFill>
                          <a:latin typeface="Helvetica Neue"/>
                          <a:ea typeface="Helvetica Neue"/>
                          <a:cs typeface="Helvetica Neue"/>
                        </a:rPr>
                        <a:t>138–157 cycles</a:t>
                      </a:r>
                    </a:p>
                  </a:txBody>
                  <a:tcPr marL="91440" marR="91440" marT="45720" marB="45720" anchor="ctr">
                    <a:solidFill>
                      <a:srgbClr val="F7F5EE"/>
                    </a:solidFill>
                  </a:tcPr>
                </a:tc>
                <a:tc>
                  <a:txBody>
                    <a:bodyPr wrap="square" lIns="114300" tIns="95250" rIns="114300" bIns="95250">
                      <a:noAutofit/>
                    </a:bodyPr>
                    <a:lstStyle/>
                    <a:p>
                      <a:r>
                        <a:rPr sz="1725" b="0">
                          <a:solidFill>
                            <a:srgbClr val="16343A"/>
                          </a:solidFill>
                          <a:latin typeface="Helvetica Neue"/>
                          <a:ea typeface="Helvetica Neue"/>
                          <a:cs typeface="Helvetica Neue"/>
                        </a:rPr>
                        <a:t>Per operation, excludes host work</a:t>
                      </a:r>
                    </a:p>
                  </a:txBody>
                  <a:tcPr marL="91440" marR="91440" marT="45720" marB="45720" anchor="ctr">
                    <a:solidFill>
                      <a:srgbClr val="F7F5EE"/>
                    </a:solidFill>
                  </a:tcPr>
                </a:tc>
              </a:tr>
              <a:tr h="550069">
                <a:tc>
                  <a:txBody>
                    <a:bodyPr wrap="square" lIns="114300" tIns="95250" rIns="114300" bIns="95250">
                      <a:noAutofit/>
                    </a:bodyPr>
                    <a:lstStyle/>
                    <a:p>
                      <a:r>
                        <a:rPr sz="1725" b="1">
                          <a:solidFill>
                            <a:srgbClr val="16343A"/>
                          </a:solidFill>
                          <a:latin typeface="Helvetica Neue"/>
                          <a:ea typeface="Helvetica Neue"/>
                          <a:cs typeface="Helvetica Neue"/>
                        </a:rPr>
                        <a:t>XSIM / FPGA clock</a:t>
                      </a:r>
                    </a:p>
                  </a:txBody>
                  <a:tcPr marL="91440" marR="91440" marT="45720" marB="45720" anchor="ctr">
                    <a:solidFill>
                      <a:srgbClr val="F7F5EE"/>
                    </a:solidFill>
                  </a:tcPr>
                </a:tc>
                <a:tc>
                  <a:txBody>
                    <a:bodyPr wrap="square" lIns="114300" tIns="95250" rIns="114300" bIns="95250">
                      <a:noAutofit/>
                    </a:bodyPr>
                    <a:lstStyle/>
                    <a:p>
                      <a:r>
                        <a:rPr sz="1725" b="0">
                          <a:solidFill>
                            <a:srgbClr val="16343A"/>
                          </a:solidFill>
                          <a:latin typeface="Helvetica Neue"/>
                          <a:ea typeface="Helvetica Neue"/>
                          <a:cs typeface="Helvetica Neue"/>
                        </a:rPr>
                        <a:t>250 MHz / 250 MHz</a:t>
                      </a:r>
                    </a:p>
                  </a:txBody>
                  <a:tcPr marL="91440" marR="91440" marT="45720" marB="45720" anchor="ctr">
                    <a:solidFill>
                      <a:srgbClr val="F7F5EE"/>
                    </a:solidFill>
                  </a:tcPr>
                </a:tc>
                <a:tc>
                  <a:txBody>
                    <a:bodyPr wrap="square" lIns="114300" tIns="95250" rIns="114300" bIns="95250">
                      <a:noAutofit/>
                    </a:bodyPr>
                    <a:lstStyle/>
                    <a:p>
                      <a:r>
                        <a:rPr sz="1725" b="0">
                          <a:solidFill>
                            <a:srgbClr val="16343A"/>
                          </a:solidFill>
                          <a:latin typeface="Helvetica Neue"/>
                          <a:ea typeface="Helvetica Neue"/>
                          <a:cs typeface="Helvetica Neue"/>
                        </a:rPr>
                        <a:t>Modeled clock / implementation target</a:t>
                      </a:r>
                    </a:p>
                  </a:txBody>
                  <a:tcPr marL="91440" marR="91440" marT="45720" marB="45720" anchor="ctr">
                    <a:solidFill>
                      <a:srgbClr val="F7F5EE"/>
                    </a:solidFill>
                  </a:tcPr>
                </a:tc>
              </a:tr>
              <a:tr h="550069">
                <a:tc>
                  <a:txBody>
                    <a:bodyPr wrap="square" lIns="114300" tIns="95250" rIns="114300" bIns="95250">
                      <a:noAutofit/>
                    </a:bodyPr>
                    <a:lstStyle/>
                    <a:p>
                      <a:r>
                        <a:rPr sz="1725" b="1">
                          <a:solidFill>
                            <a:srgbClr val="16343A"/>
                          </a:solidFill>
                          <a:latin typeface="Helvetica Neue"/>
                          <a:ea typeface="Helvetica Neue"/>
                          <a:cs typeface="Helvetica Neue"/>
                        </a:rPr>
                        <a:t>Arcilator first slice</a:t>
                      </a:r>
                    </a:p>
                  </a:txBody>
                  <a:tcPr marL="91440" marR="91440" marT="45720" marB="45720" anchor="ctr">
                    <a:solidFill>
                      <a:srgbClr val="F7F5EE"/>
                    </a:solidFill>
                  </a:tcPr>
                </a:tc>
                <a:tc>
                  <a:txBody>
                    <a:bodyPr wrap="square" lIns="114300" tIns="95250" rIns="114300" bIns="95250">
                      <a:noAutofit/>
                    </a:bodyPr>
                    <a:lstStyle/>
                    <a:p>
                      <a:r>
                        <a:rPr sz="1725" b="0">
                          <a:solidFill>
                            <a:srgbClr val="16343A"/>
                          </a:solidFill>
                          <a:latin typeface="Helvetica Neue"/>
                          <a:ea typeface="Helvetica Neue"/>
                          <a:cs typeface="Helvetica Neue"/>
                        </a:rPr>
                        <a:t>Smoke + synthetic pass</a:t>
                      </a:r>
                    </a:p>
                  </a:txBody>
                  <a:tcPr marL="91440" marR="91440" marT="45720" marB="45720" anchor="ctr">
                    <a:solidFill>
                      <a:srgbClr val="F7F5EE"/>
                    </a:solidFill>
                  </a:tcPr>
                </a:tc>
                <a:tc>
                  <a:txBody>
                    <a:bodyPr wrap="square" lIns="114300" tIns="95250" rIns="114300" bIns="95250">
                      <a:noAutofit/>
                    </a:bodyPr>
                    <a:lstStyle/>
                    <a:p>
                      <a:r>
                        <a:rPr sz="1725" b="0">
                          <a:solidFill>
                            <a:srgbClr val="16343A"/>
                          </a:solidFill>
                          <a:latin typeface="Helvetica Neue"/>
                          <a:ea typeface="Helvetica Neue"/>
                          <a:cs typeface="Helvetica Neue"/>
                        </a:rPr>
                        <a:t>Full native run pending</a:t>
                      </a:r>
                    </a:p>
                  </a:txBody>
                  <a:tcPr marL="91440" marR="91440" marT="45720" marB="45720" anchor="ctr">
                    <a:solidFill>
                      <a:srgbClr val="F7F5EE"/>
                    </a:solidFill>
                  </a:tcPr>
                </a:tc>
              </a:tr>
            </a:tbl>
          </a:graphicData>
        </a:graphic>
      </p:graphicFrame>
      <p:sp>
        <p:nvSpPr>
          <p:cNvPr id="8" name="timing">
            <a:extLst xmlns:a="http://schemas.openxmlformats.org/drawingml/2006/main">
              <a:ext uri="{FF2B5EF4-FFF2-40B4-BE49-F238E27FC236}">
                <a16:creationId xmlns:a16="http://schemas.microsoft.com/office/drawing/2014/main" id="{1B529A55-57FD-4951-8E5E-38814E8A2EA3}"/>
              </a:ext>
            </a:extLst>
          </p:cNvPr>
          <p:cNvSpPr>
            <a:spLocks xmlns:a="http://schemas.openxmlformats.org/drawingml/2006/main" noGrp="1"/>
          </p:cNvSpPr>
          <p:nvPr/>
        </p:nvSpPr>
        <p:spPr>
          <a:xfrm xmlns:a="http://schemas.openxmlformats.org/drawingml/2006/main">
            <a:off x="609600" y="5514975"/>
            <a:ext cx="10858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A34D29"/>
                </a:solidFill>
                <a:latin typeface="Helvetica Neue"/>
                <a:ea typeface="Helvetica Neue"/>
                <a:cs typeface="Helvetica Neue"/>
              </a:defRPr>
            </a:pPr>
            <a:r>
              <a:rPr sz="1875" b="1">
                <a:solidFill>
                  <a:srgbClr val="A34D29"/>
                </a:solidFill>
                <a:latin typeface="Helvetica Neue"/>
                <a:ea typeface="Helvetica Neue"/>
                <a:cs typeface="Helvetica Neue"/>
              </a:rPr>
              <a:t>Preliminary post-place setup: −0.647 ns. Final routed timing pending.</a:t>
            </a:r>
          </a:p>
        </p:txBody>
      </p:sp>
      <p:sp>
        <p:nvSpPr>
          <p:cNvPr id="9" name="remaining">
            <a:extLst xmlns:a="http://schemas.openxmlformats.org/drawingml/2006/main">
              <a:ext uri="{FF2B5EF4-FFF2-40B4-BE49-F238E27FC236}">
                <a16:creationId xmlns:a16="http://schemas.microsoft.com/office/drawing/2014/main" id="{3580C27A-22CB-447A-B4AF-F298FE9F25B7}"/>
              </a:ext>
            </a:extLst>
          </p:cNvPr>
          <p:cNvSpPr>
            <a:spLocks xmlns:a="http://schemas.openxmlformats.org/drawingml/2006/main" noGrp="1"/>
          </p:cNvSpPr>
          <p:nvPr/>
        </p:nvSpPr>
        <p:spPr>
          <a:xfrm xmlns:a="http://schemas.openxmlformats.org/drawingml/2006/main">
            <a:off x="609600" y="5972175"/>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66A"/>
                </a:solidFill>
                <a:latin typeface="Helvetica Neue"/>
                <a:ea typeface="Helvetica Neue"/>
                <a:cs typeface="Helvetica Neue"/>
              </a:defRPr>
            </a:pPr>
            <a:r>
              <a:rPr sz="1725" b="0">
                <a:solidFill>
                  <a:srgbClr val="52666A"/>
                </a:solidFill>
                <a:latin typeface="Helvetica Neue"/>
                <a:ea typeface="Helvetica Neue"/>
                <a:cs typeface="Helvetica Neue"/>
              </a:rPr>
              <a:t>Next gates: timing/DRC, custom AFI, physical full-image run, PR review.</a:t>
            </a:r>
          </a:p>
        </p:txBody>
      </p:sp>
      <p:sp>
        <p:nvSpPr>
          <p:cNvPr id="10" name="source">
            <a:extLst xmlns:a="http://schemas.openxmlformats.org/drawingml/2006/main">
              <a:ext uri="{FF2B5EF4-FFF2-40B4-BE49-F238E27FC236}">
                <a16:creationId xmlns:a16="http://schemas.microsoft.com/office/drawing/2014/main" id="{4AEBF79A-B50F-441B-98F8-C4F6AE616F52}"/>
              </a:ext>
            </a:extLst>
          </p:cNvPr>
          <p:cNvSpPr>
            <a:spLocks xmlns:a="http://schemas.openxmlformats.org/drawingml/2006/main" noGrp="1"/>
          </p:cNvSpPr>
          <p:nvPr/>
        </p:nvSpPr>
        <p:spPr>
          <a:xfrm xmlns:a="http://schemas.openxmlformats.org/drawingml/2006/main">
            <a:off x="9810750" y="6381750"/>
            <a:ext cx="1771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2666A"/>
                </a:solidFill>
                <a:latin typeface="Helvetica Neue"/>
                <a:ea typeface="Helvetica Neue"/>
                <a:cs typeface="Helvetica Neue"/>
              </a:defRPr>
            </a:pPr>
            <a:r>
              <a:rPr sz="1200" b="0">
                <a:solidFill>
                  <a:srgbClr val="52666A"/>
                </a:solidFill>
                <a:latin typeface="Helvetica Neue"/>
                <a:ea typeface="Helvetica Neue"/>
                <a:cs typeface="Helvetica Neue"/>
              </a:rPr>
              <a:t>F2 source 839e5fc1</a:t>
            </a:r>
          </a:p>
        </p:txBody>
      </p:sp>
    </p:spTree>
    <p:extLst>
      <p:ext uri="{BB962C8B-B14F-4D97-AF65-F5344CB8AC3E}">
        <p14:creationId xmlns:p14="http://schemas.microsoft.com/office/powerpoint/2010/main" val="398966032"/>
      </p:ext>
    </p:extLst>
  </p:cSld>
</p:sld>
</file>

<file path=ppt/slides/slide4.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12" name="brand">
            <a:extLst xmlns:a="http://schemas.openxmlformats.org/drawingml/2006/main">
              <a:ext uri="{FF2B5EF4-FFF2-40B4-BE49-F238E27FC236}">
                <a16:creationId xmlns:a16="http://schemas.microsoft.com/office/drawing/2014/main" id="{5E97C25F-073F-4FF9-AA8F-B93A9F6B4F73}"/>
              </a:ext>
            </a:extLst>
          </p:cNvPr>
          <p:cNvSpPr>
            <a:spLocks xmlns:a="http://schemas.openxmlformats.org/drawingml/2006/main" noGrp="1"/>
          </p:cNvSpPr>
          <p:nvPr/>
        </p:nvSpPr>
        <p:spPr>
          <a:xfrm xmlns:a="http://schemas.openxmlformats.org/drawingml/2006/main">
            <a:off x="609600" y="285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76B70"/>
                </a:solidFill>
                <a:latin typeface="Helvetica Neue"/>
                <a:ea typeface="Helvetica Neue"/>
                <a:cs typeface="Helvetica Neue"/>
              </a:defRPr>
            </a:pPr>
            <a:r>
              <a:rPr sz="1200" b="1">
                <a:solidFill>
                  <a:srgbClr val="076B70"/>
                </a:solidFill>
                <a:latin typeface="Helvetica Neue"/>
                <a:ea typeface="Helvetica Neue"/>
                <a:cs typeface="Helvetica Neue"/>
              </a:rPr>
              <a:t>BONSAI-ON-CHIP</a:t>
            </a:r>
          </a:p>
        </p:txBody>
      </p:sp>
      <p:sp>
        <p:nvSpPr>
          <p:cNvPr id="2" name="page">
            <a:extLst xmlns:a="http://schemas.openxmlformats.org/drawingml/2006/main">
              <a:ext uri="{FF2B5EF4-FFF2-40B4-BE49-F238E27FC236}">
                <a16:creationId xmlns:a16="http://schemas.microsoft.com/office/drawing/2014/main" id="{A3EA436F-4166-43E2-9D6D-DBAA5EB2373E}"/>
              </a:ext>
            </a:extLst>
          </p:cNvPr>
          <p:cNvSpPr>
            <a:spLocks xmlns:a="http://schemas.openxmlformats.org/drawingml/2006/main" noGrp="1"/>
          </p:cNvSpPr>
          <p:nvPr/>
        </p:nvSpPr>
        <p:spPr>
          <a:xfrm xmlns:a="http://schemas.openxmlformats.org/drawingml/2006/main">
            <a:off x="11049000" y="285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2666A"/>
                </a:solidFill>
                <a:latin typeface="Helvetica Neue"/>
                <a:ea typeface="Helvetica Neue"/>
                <a:cs typeface="Helvetica Neue"/>
              </a:defRPr>
            </a:pPr>
            <a:r>
              <a:rPr sz="1200" b="0">
                <a:solidFill>
                  <a:srgbClr val="52666A"/>
                </a:solidFill>
                <a:latin typeface="Helvetica Neue"/>
                <a:ea typeface="Helvetica Neue"/>
                <a:cs typeface="Helvetica Neue"/>
              </a:rPr>
              <a:t>04</a:t>
            </a:r>
          </a:p>
        </p:txBody>
      </p:sp>
      <p:sp>
        <p:nvSpPr>
          <p:cNvPr id="3" name="title">
            <a:extLst xmlns:a="http://schemas.openxmlformats.org/drawingml/2006/main">
              <a:ext uri="{FF2B5EF4-FFF2-40B4-BE49-F238E27FC236}">
                <a16:creationId xmlns:a16="http://schemas.microsoft.com/office/drawing/2014/main" id="{F63A9EA6-244C-4720-86CB-42753182839C}"/>
              </a:ext>
            </a:extLst>
          </p:cNvPr>
          <p:cNvSpPr>
            <a:spLocks xmlns:a="http://schemas.openxmlformats.org/drawingml/2006/main" noGrp="1"/>
          </p:cNvSpPr>
          <p:nvPr/>
        </p:nvSpPr>
        <p:spPr>
          <a:xfrm xmlns:a="http://schemas.openxmlformats.org/drawingml/2006/main">
            <a:off x="609600" y="7905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6343A"/>
                </a:solidFill>
                <a:latin typeface="Helvetica Neue"/>
                <a:ea typeface="Helvetica Neue"/>
                <a:cs typeface="Helvetica Neue"/>
              </a:defRPr>
            </a:pPr>
            <a:r>
              <a:rPr sz="3300" b="1">
                <a:solidFill>
                  <a:srgbClr val="16343A"/>
                </a:solidFill>
                <a:latin typeface="Helvetica Neue"/>
                <a:ea typeface="Helvetica Neue"/>
                <a:cs typeface="Helvetica Neue"/>
              </a:rPr>
              <a:t>HBM weight store and array design</a:t>
            </a:r>
          </a:p>
        </p:txBody>
      </p:sp>
      <p:sp>
        <p:nvSpPr>
          <p:cNvPr id="4" name="footer">
            <a:extLst xmlns:a="http://schemas.openxmlformats.org/drawingml/2006/main">
              <a:ext uri="{FF2B5EF4-FFF2-40B4-BE49-F238E27FC236}">
                <a16:creationId xmlns:a16="http://schemas.microsoft.com/office/drawing/2014/main" id="{71E68C6A-BE02-42E0-95C9-34030EFDEF0E}"/>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2666A"/>
                </a:solidFill>
                <a:latin typeface="Helvetica Neue"/>
                <a:ea typeface="Helvetica Neue"/>
                <a:cs typeface="Helvetica Neue"/>
              </a:defRPr>
            </a:pPr>
            <a:r>
              <a:rPr sz="1200" b="0">
                <a:solidFill>
                  <a:srgbClr val="52666A"/>
                </a:solidFill>
                <a:latin typeface="Helvetica Neue"/>
                <a:ea typeface="Helvetica Neue"/>
                <a:cs typeface="Helvetica Neue"/>
              </a:rPr>
              <a:t>30 Sep 2026  /  Team progress update</a:t>
            </a:r>
          </a:p>
        </p:txBody>
      </p:sp>
      <p:sp>
        <p:nvSpPr>
          <p:cNvPr id="5" name="design-lead">
            <a:extLst xmlns:a="http://schemas.openxmlformats.org/drawingml/2006/main">
              <a:ext uri="{FF2B5EF4-FFF2-40B4-BE49-F238E27FC236}">
                <a16:creationId xmlns:a16="http://schemas.microsoft.com/office/drawing/2014/main" id="{979B8807-3752-4C15-9122-CC8EEA717F61}"/>
              </a:ext>
            </a:extLst>
          </p:cNvPr>
          <p:cNvSpPr>
            <a:spLocks xmlns:a="http://schemas.openxmlformats.org/drawingml/2006/main" noGrp="1"/>
          </p:cNvSpPr>
          <p:nvPr/>
        </p:nvSpPr>
        <p:spPr>
          <a:xfrm xmlns:a="http://schemas.openxmlformats.org/drawingml/2006/main">
            <a:off x="609600" y="16287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76B70"/>
                </a:solidFill>
                <a:latin typeface="Helvetica Neue"/>
                <a:ea typeface="Helvetica Neue"/>
                <a:cs typeface="Helvetica Neue"/>
              </a:defRPr>
            </a:pPr>
            <a:r>
              <a:rPr sz="2550" b="1">
                <a:solidFill>
                  <a:srgbClr val="076B70"/>
                </a:solidFill>
                <a:latin typeface="Helvetica Neue"/>
                <a:ea typeface="Helvetica Neue"/>
                <a:cs typeface="Helvetica Neue"/>
              </a:rPr>
              <a:t>HBM is the preferred FPGA ROM equivalent</a:t>
            </a:r>
          </a:p>
        </p:txBody>
      </p:sp>
      <p:sp>
        <p:nvSpPr>
          <p:cNvPr id="6" name="state">
            <a:extLst xmlns:a="http://schemas.openxmlformats.org/drawingml/2006/main">
              <a:ext uri="{FF2B5EF4-FFF2-40B4-BE49-F238E27FC236}">
                <a16:creationId xmlns:a16="http://schemas.microsoft.com/office/drawing/2014/main" id="{847000F7-9AF4-41B6-B2B6-786314DB8597}"/>
              </a:ext>
            </a:extLst>
          </p:cNvPr>
          <p:cNvSpPr>
            <a:spLocks xmlns:a="http://schemas.openxmlformats.org/drawingml/2006/main" noGrp="1"/>
          </p:cNvSpPr>
          <p:nvPr/>
        </p:nvSpPr>
        <p:spPr>
          <a:xfrm xmlns:a="http://schemas.openxmlformats.org/drawingml/2006/main">
            <a:off x="609600" y="21812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6343A"/>
                </a:solidFill>
                <a:latin typeface="Helvetica Neue"/>
                <a:ea typeface="Helvetica Neue"/>
                <a:cs typeface="Helvetica Neue"/>
              </a:defRPr>
            </a:pPr>
            <a:r>
              <a:rPr sz="2025" b="0">
                <a:solidFill>
                  <a:srgbClr val="16343A"/>
                </a:solidFill>
                <a:latin typeface="Helvetica Neue"/>
                <a:ea typeface="Helvetica Neue"/>
                <a:cs typeface="Helvetica Neue"/>
              </a:rPr>
              <a:t>Current DDR first slice is implemented. HBM and the array remain design proposals.</a:t>
            </a:r>
          </a:p>
        </p:txBody>
      </p:sp>
      <p:sp>
        <p:nvSpPr>
          <p:cNvPr id="7" name="storage-label">
            <a:extLst xmlns:a="http://schemas.openxmlformats.org/drawingml/2006/main">
              <a:ext uri="{FF2B5EF4-FFF2-40B4-BE49-F238E27FC236}">
                <a16:creationId xmlns:a16="http://schemas.microsoft.com/office/drawing/2014/main" id="{08F7063C-16E1-466B-8790-63F9E1CF1C8D}"/>
              </a:ext>
            </a:extLst>
          </p:cNvPr>
          <p:cNvSpPr>
            <a:spLocks xmlns:a="http://schemas.openxmlformats.org/drawingml/2006/main" noGrp="1"/>
          </p:cNvSpPr>
          <p:nvPr/>
        </p:nvSpPr>
        <p:spPr>
          <a:xfrm xmlns:a="http://schemas.openxmlformats.org/drawingml/2006/main">
            <a:off x="609600" y="3228975"/>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076B70"/>
                </a:solidFill>
                <a:latin typeface="Helvetica Neue"/>
                <a:ea typeface="Helvetica Neue"/>
                <a:cs typeface="Helvetica Neue"/>
              </a:defRPr>
            </a:pPr>
            <a:r>
              <a:rPr sz="1350" b="1">
                <a:solidFill>
                  <a:srgbClr val="076B70"/>
                </a:solidFill>
                <a:latin typeface="Helvetica Neue"/>
                <a:ea typeface="Helvetica Neue"/>
                <a:cs typeface="Helvetica Neue"/>
              </a:rPr>
              <a:t>STORAGE CONTRACT</a:t>
            </a:r>
          </a:p>
        </p:txBody>
      </p:sp>
      <p:sp>
        <p:nvSpPr>
          <p:cNvPr id="8" name="storage-body">
            <a:extLst xmlns:a="http://schemas.openxmlformats.org/drawingml/2006/main">
              <a:ext uri="{FF2B5EF4-FFF2-40B4-BE49-F238E27FC236}">
                <a16:creationId xmlns:a16="http://schemas.microsoft.com/office/drawing/2014/main" id="{6AC98283-4390-4803-8444-B0A03663FB35}"/>
              </a:ext>
            </a:extLst>
          </p:cNvPr>
          <p:cNvSpPr>
            <a:spLocks xmlns:a="http://schemas.openxmlformats.org/drawingml/2006/main" noGrp="1"/>
          </p:cNvSpPr>
          <p:nvPr/>
        </p:nvSpPr>
        <p:spPr>
          <a:xfrm xmlns:a="http://schemas.openxmlformats.org/drawingml/2006/main">
            <a:off x="609600" y="3686175"/>
            <a:ext cx="49339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6343A"/>
                </a:solidFill>
                <a:latin typeface="Helvetica Neue"/>
                <a:ea typeface="Helvetica Neue"/>
                <a:cs typeface="Helvetica Neue"/>
              </a:defRPr>
            </a:pPr>
            <a:r>
              <a:rPr sz="2100" b="0">
                <a:solidFill>
                  <a:srgbClr val="16343A"/>
                </a:solidFill>
                <a:latin typeface="Helvetica Neue"/>
                <a:ea typeface="Helvetica Neue"/>
                <a:cs typeface="Helvetica Neue"/>
              </a:rPr>
              <a:t>Load the image, verify its hash, then seal it.</a:t>
            </a:r>
          </a:p>
          <a:p xmlns:a="http://schemas.openxmlformats.org/drawingml/2006/main">
            <a:r>
              <a:t/>
            </a:r>
          </a:p>
          <a:p xmlns:a="http://schemas.openxmlformats.org/drawingml/2006/main">
            <a:pPr algn="l">
              <a:defRPr sz="2100" b="0">
                <a:solidFill>
                  <a:srgbClr val="16343A"/>
                </a:solidFill>
                <a:latin typeface="Helvetica Neue"/>
                <a:ea typeface="Helvetica Neue"/>
                <a:cs typeface="Helvetica Neue"/>
              </a:defRPr>
            </a:pPr>
            <a:r>
              <a:rPr sz="2100" b="0">
                <a:solidFill>
                  <a:srgbClr val="16343A"/>
                </a:solidFill>
                <a:latin typeface="Helvetica Neue"/>
                <a:ea typeface="Helvetica Neue"/>
                <a:cs typeface="Helvetica Neue"/>
              </a:rPr>
              <a:t>Block every writer during execution. Reload after HBM reset or data loss.</a:t>
            </a:r>
          </a:p>
        </p:txBody>
      </p:sp>
      <p:sp>
        <p:nvSpPr>
          <p:cNvPr id="9" name="integration-label">
            <a:extLst xmlns:a="http://schemas.openxmlformats.org/drawingml/2006/main">
              <a:ext uri="{FF2B5EF4-FFF2-40B4-BE49-F238E27FC236}">
                <a16:creationId xmlns:a16="http://schemas.microsoft.com/office/drawing/2014/main" id="{69D01701-CDA1-4AE1-B162-6D8559499362}"/>
              </a:ext>
            </a:extLst>
          </p:cNvPr>
          <p:cNvSpPr>
            <a:spLocks xmlns:a="http://schemas.openxmlformats.org/drawingml/2006/main" noGrp="1"/>
          </p:cNvSpPr>
          <p:nvPr/>
        </p:nvSpPr>
        <p:spPr>
          <a:xfrm xmlns:a="http://schemas.openxmlformats.org/drawingml/2006/main">
            <a:off x="6419850" y="3228975"/>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076B70"/>
                </a:solidFill>
                <a:latin typeface="Helvetica Neue"/>
                <a:ea typeface="Helvetica Neue"/>
                <a:cs typeface="Helvetica Neue"/>
              </a:defRPr>
            </a:pPr>
            <a:r>
              <a:rPr sz="1350" b="1">
                <a:solidFill>
                  <a:srgbClr val="076B70"/>
                </a:solidFill>
                <a:latin typeface="Helvetica Neue"/>
                <a:ea typeface="Helvetica Neue"/>
                <a:cs typeface="Helvetica Neue"/>
              </a:rPr>
              <a:t>INTEGRATION BOUNDARY</a:t>
            </a:r>
          </a:p>
        </p:txBody>
      </p:sp>
      <p:sp>
        <p:nvSpPr>
          <p:cNvPr id="10" name="integration-body">
            <a:extLst xmlns:a="http://schemas.openxmlformats.org/drawingml/2006/main">
              <a:ext uri="{FF2B5EF4-FFF2-40B4-BE49-F238E27FC236}">
                <a16:creationId xmlns:a16="http://schemas.microsoft.com/office/drawing/2014/main" id="{DBB57D84-A251-4D17-8286-E60B584DFF4D}"/>
              </a:ext>
            </a:extLst>
          </p:cNvPr>
          <p:cNvSpPr>
            <a:spLocks xmlns:a="http://schemas.openxmlformats.org/drawingml/2006/main" noGrp="1"/>
          </p:cNvSpPr>
          <p:nvPr/>
        </p:nvSpPr>
        <p:spPr>
          <a:xfrm xmlns:a="http://schemas.openxmlformats.org/drawingml/2006/main">
            <a:off x="6419850" y="3686175"/>
            <a:ext cx="5048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6343A"/>
                </a:solidFill>
                <a:latin typeface="Helvetica Neue"/>
                <a:ea typeface="Helvetica Neue"/>
                <a:cs typeface="Helvetica Neue"/>
              </a:defRPr>
            </a:pPr>
            <a:r>
              <a:rPr sz="2100" b="0">
                <a:solidFill>
                  <a:srgbClr val="16343A"/>
                </a:solidFill>
                <a:latin typeface="Helvetica Neue"/>
                <a:ea typeface="Helvetica Neue"/>
                <a:cs typeface="Helvetica Neue"/>
              </a:rPr>
              <a:t>CoralNPU control and RVV prepare work.</a:t>
            </a:r>
          </a:p>
          <a:p xmlns:a="http://schemas.openxmlformats.org/drawingml/2006/main">
            <a:r>
              <a:t/>
            </a:r>
          </a:p>
          <a:p xmlns:a="http://schemas.openxmlformats.org/drawingml/2006/main">
            <a:pPr algn="l">
              <a:defRPr sz="2100" b="0">
                <a:solidFill>
                  <a:srgbClr val="16343A"/>
                </a:solidFill>
                <a:latin typeface="Helvetica Neue"/>
                <a:ea typeface="Helvetica Neue"/>
                <a:cs typeface="Helvetica Neue"/>
              </a:defRPr>
            </a:pPr>
            <a:r>
              <a:rPr sz="2100" b="0">
                <a:solidFill>
                  <a:srgbClr val="16343A"/>
                </a:solidFill>
                <a:latin typeface="Helvetica Neue"/>
                <a:ea typeface="Helvetica Neue"/>
                <a:cs typeface="Helvetica Neue"/>
              </a:rPr>
              <a:t>A shared weight store feeds staging buffers and the proposed ternary array.</a:t>
            </a:r>
          </a:p>
        </p:txBody>
      </p:sp>
      <p:sp>
        <p:nvSpPr>
          <p:cNvPr id="11" name="capacity">
            <a:extLst xmlns:a="http://schemas.openxmlformats.org/drawingml/2006/main">
              <a:ext uri="{FF2B5EF4-FFF2-40B4-BE49-F238E27FC236}">
                <a16:creationId xmlns:a16="http://schemas.microsoft.com/office/drawing/2014/main" id="{E38BDB58-1E99-4743-9E16-0031D6DEFB52}"/>
              </a:ext>
            </a:extLst>
          </p:cNvPr>
          <p:cNvSpPr>
            <a:spLocks xmlns:a="http://schemas.openxmlformats.org/drawingml/2006/main" noGrp="1"/>
          </p:cNvSpPr>
          <p:nvPr/>
        </p:nvSpPr>
        <p:spPr>
          <a:xfrm xmlns:a="http://schemas.openxmlformats.org/drawingml/2006/main">
            <a:off x="609600" y="57340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A34D29"/>
                </a:solidFill>
                <a:latin typeface="Helvetica Neue"/>
                <a:ea typeface="Helvetica Neue"/>
                <a:cs typeface="Helvetica Neue"/>
              </a:defRPr>
            </a:pPr>
            <a:r>
              <a:rPr sz="1800" b="1">
                <a:solidFill>
                  <a:srgbClr val="A34D29"/>
                </a:solidFill>
                <a:latin typeface="Helvetica Neue"/>
                <a:ea typeface="Helvetica Neue"/>
                <a:cs typeface="Helvetica Neue"/>
              </a:rPr>
              <a:t>Current logical image cap: 256 MiB. A 27B design needs versioned addressing and a complete HBM budget.</a:t>
            </a:r>
          </a:p>
        </p:txBody>
      </p:sp>
    </p:spTree>
    <p:extLst>
      <p:ext uri="{BB962C8B-B14F-4D97-AF65-F5344CB8AC3E}">
        <p14:creationId xmlns:p14="http://schemas.microsoft.com/office/powerpoint/2010/main" val="860018474"/>
      </p:ext>
    </p:extLst>
  </p:cSld>
</p:sld>
</file>

<file path=ppt/slides/slide5.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14" name="brand">
            <a:extLst xmlns:a="http://schemas.openxmlformats.org/drawingml/2006/main">
              <a:ext uri="{FF2B5EF4-FFF2-40B4-BE49-F238E27FC236}">
                <a16:creationId xmlns:a16="http://schemas.microsoft.com/office/drawing/2014/main" id="{E76D07B0-C3CF-4CE9-9218-283717808C02}"/>
              </a:ext>
            </a:extLst>
          </p:cNvPr>
          <p:cNvSpPr>
            <a:spLocks xmlns:a="http://schemas.openxmlformats.org/drawingml/2006/main" noGrp="1"/>
          </p:cNvSpPr>
          <p:nvPr/>
        </p:nvSpPr>
        <p:spPr>
          <a:xfrm xmlns:a="http://schemas.openxmlformats.org/drawingml/2006/main">
            <a:off x="609600" y="285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76B70"/>
                </a:solidFill>
                <a:latin typeface="Helvetica Neue"/>
                <a:ea typeface="Helvetica Neue"/>
                <a:cs typeface="Helvetica Neue"/>
              </a:defRPr>
            </a:pPr>
            <a:r>
              <a:rPr sz="1200" b="1">
                <a:solidFill>
                  <a:srgbClr val="076B70"/>
                </a:solidFill>
                <a:latin typeface="Helvetica Neue"/>
                <a:ea typeface="Helvetica Neue"/>
                <a:cs typeface="Helvetica Neue"/>
              </a:rPr>
              <a:t>BONSAI-ON-CHIP</a:t>
            </a:r>
          </a:p>
        </p:txBody>
      </p:sp>
      <p:sp>
        <p:nvSpPr>
          <p:cNvPr id="2" name="page">
            <a:extLst xmlns:a="http://schemas.openxmlformats.org/drawingml/2006/main">
              <a:ext uri="{FF2B5EF4-FFF2-40B4-BE49-F238E27FC236}">
                <a16:creationId xmlns:a16="http://schemas.microsoft.com/office/drawing/2014/main" id="{92AE4BE9-FE7A-4436-8256-AE468C8795E8}"/>
              </a:ext>
            </a:extLst>
          </p:cNvPr>
          <p:cNvSpPr>
            <a:spLocks xmlns:a="http://schemas.openxmlformats.org/drawingml/2006/main" noGrp="1"/>
          </p:cNvSpPr>
          <p:nvPr/>
        </p:nvSpPr>
        <p:spPr>
          <a:xfrm xmlns:a="http://schemas.openxmlformats.org/drawingml/2006/main">
            <a:off x="11049000" y="285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2666A"/>
                </a:solidFill>
                <a:latin typeface="Helvetica Neue"/>
                <a:ea typeface="Helvetica Neue"/>
                <a:cs typeface="Helvetica Neue"/>
              </a:defRPr>
            </a:pPr>
            <a:r>
              <a:rPr sz="1200" b="0">
                <a:solidFill>
                  <a:srgbClr val="52666A"/>
                </a:solidFill>
                <a:latin typeface="Helvetica Neue"/>
                <a:ea typeface="Helvetica Neue"/>
                <a:cs typeface="Helvetica Neue"/>
              </a:rPr>
              <a:t>05</a:t>
            </a:r>
          </a:p>
        </p:txBody>
      </p:sp>
      <p:sp>
        <p:nvSpPr>
          <p:cNvPr id="3" name="title">
            <a:extLst xmlns:a="http://schemas.openxmlformats.org/drawingml/2006/main">
              <a:ext uri="{FF2B5EF4-FFF2-40B4-BE49-F238E27FC236}">
                <a16:creationId xmlns:a16="http://schemas.microsoft.com/office/drawing/2014/main" id="{E3946C83-F732-42EE-9284-3376BEA573A6}"/>
              </a:ext>
            </a:extLst>
          </p:cNvPr>
          <p:cNvSpPr>
            <a:spLocks xmlns:a="http://schemas.openxmlformats.org/drawingml/2006/main" noGrp="1"/>
          </p:cNvSpPr>
          <p:nvPr/>
        </p:nvSpPr>
        <p:spPr>
          <a:xfrm xmlns:a="http://schemas.openxmlformats.org/drawingml/2006/main">
            <a:off x="609600" y="7905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6343A"/>
                </a:solidFill>
                <a:latin typeface="Helvetica Neue"/>
                <a:ea typeface="Helvetica Neue"/>
                <a:cs typeface="Helvetica Neue"/>
              </a:defRPr>
            </a:pPr>
            <a:r>
              <a:rPr sz="3300" b="1">
                <a:solidFill>
                  <a:srgbClr val="16343A"/>
                </a:solidFill>
                <a:latin typeface="Helvetica Neue"/>
                <a:ea typeface="Helvetica Neue"/>
                <a:cs typeface="Helvetica Neue"/>
              </a:rPr>
              <a:t>Next deliverables and decisions</a:t>
            </a:r>
          </a:p>
        </p:txBody>
      </p:sp>
      <p:sp>
        <p:nvSpPr>
          <p:cNvPr id="4" name="footer">
            <a:extLst xmlns:a="http://schemas.openxmlformats.org/drawingml/2006/main">
              <a:ext uri="{FF2B5EF4-FFF2-40B4-BE49-F238E27FC236}">
                <a16:creationId xmlns:a16="http://schemas.microsoft.com/office/drawing/2014/main" id="{DC217042-742A-4D00-80AC-C457F078087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2666A"/>
                </a:solidFill>
                <a:latin typeface="Helvetica Neue"/>
                <a:ea typeface="Helvetica Neue"/>
                <a:cs typeface="Helvetica Neue"/>
              </a:defRPr>
            </a:pPr>
            <a:r>
              <a:rPr sz="1200" b="0">
                <a:solidFill>
                  <a:srgbClr val="52666A"/>
                </a:solidFill>
                <a:latin typeface="Helvetica Neue"/>
                <a:ea typeface="Helvetica Neue"/>
                <a:cs typeface="Helvetica Neue"/>
              </a:rPr>
              <a:t>30 Sep 2026  /  Team progress update</a:t>
            </a:r>
          </a:p>
        </p:txBody>
      </p:sp>
      <p:sp>
        <p:nvSpPr>
          <p:cNvPr id="5" name="next1-number">
            <a:extLst xmlns:a="http://schemas.openxmlformats.org/drawingml/2006/main">
              <a:ext uri="{FF2B5EF4-FFF2-40B4-BE49-F238E27FC236}">
                <a16:creationId xmlns:a16="http://schemas.microsoft.com/office/drawing/2014/main" id="{EE1927E2-7E48-4DE7-8FF3-F59C21A3B681}"/>
              </a:ext>
            </a:extLst>
          </p:cNvPr>
          <p:cNvSpPr>
            <a:spLocks xmlns:a="http://schemas.openxmlformats.org/drawingml/2006/main" noGrp="1"/>
          </p:cNvSpPr>
          <p:nvPr/>
        </p:nvSpPr>
        <p:spPr>
          <a:xfrm xmlns:a="http://schemas.openxmlformats.org/drawingml/2006/main">
            <a:off x="609600" y="1704975"/>
            <a:ext cx="742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76B70"/>
                </a:solidFill>
                <a:latin typeface="Helvetica Neue"/>
                <a:ea typeface="Helvetica Neue"/>
                <a:cs typeface="Helvetica Neue"/>
              </a:defRPr>
            </a:pPr>
            <a:r>
              <a:rPr sz="2400" b="1">
                <a:solidFill>
                  <a:srgbClr val="076B70"/>
                </a:solidFill>
                <a:latin typeface="Helvetica Neue"/>
                <a:ea typeface="Helvetica Neue"/>
                <a:cs typeface="Helvetica Neue"/>
              </a:rPr>
              <a:t>01</a:t>
            </a:r>
          </a:p>
        </p:txBody>
      </p:sp>
      <p:sp>
        <p:nvSpPr>
          <p:cNvPr id="6" name="next1-head">
            <a:extLst xmlns:a="http://schemas.openxmlformats.org/drawingml/2006/main">
              <a:ext uri="{FF2B5EF4-FFF2-40B4-BE49-F238E27FC236}">
                <a16:creationId xmlns:a16="http://schemas.microsoft.com/office/drawing/2014/main" id="{A7782885-1361-4EA2-AD27-8CA349E1FDF9}"/>
              </a:ext>
            </a:extLst>
          </p:cNvPr>
          <p:cNvSpPr>
            <a:spLocks xmlns:a="http://schemas.openxmlformats.org/drawingml/2006/main" noGrp="1"/>
          </p:cNvSpPr>
          <p:nvPr/>
        </p:nvSpPr>
        <p:spPr>
          <a:xfrm xmlns:a="http://schemas.openxmlformats.org/drawingml/2006/main">
            <a:off x="1428750" y="1647825"/>
            <a:ext cx="9810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6343A"/>
                </a:solidFill>
                <a:latin typeface="Helvetica Neue"/>
                <a:ea typeface="Helvetica Neue"/>
                <a:cs typeface="Helvetica Neue"/>
              </a:defRPr>
            </a:pPr>
            <a:r>
              <a:rPr sz="2400" b="1">
                <a:solidFill>
                  <a:srgbClr val="16343A"/>
                </a:solidFill>
                <a:latin typeface="Helvetica Neue"/>
                <a:ea typeface="Helvetica Neue"/>
                <a:cs typeface="Helvetica Neue"/>
              </a:rPr>
              <a:t>Close the ERG-103 physical gate</a:t>
            </a:r>
          </a:p>
        </p:txBody>
      </p:sp>
      <p:sp>
        <p:nvSpPr>
          <p:cNvPr id="7" name="next1-body">
            <a:extLst xmlns:a="http://schemas.openxmlformats.org/drawingml/2006/main">
              <a:ext uri="{FF2B5EF4-FFF2-40B4-BE49-F238E27FC236}">
                <a16:creationId xmlns:a16="http://schemas.microsoft.com/office/drawing/2014/main" id="{FCB61775-8442-439B-A619-4DE462F0B2C3}"/>
              </a:ext>
            </a:extLst>
          </p:cNvPr>
          <p:cNvSpPr>
            <a:spLocks xmlns:a="http://schemas.openxmlformats.org/drawingml/2006/main" noGrp="1"/>
          </p:cNvSpPr>
          <p:nvPr/>
        </p:nvSpPr>
        <p:spPr>
          <a:xfrm xmlns:a="http://schemas.openxmlformats.org/drawingml/2006/main">
            <a:off x="1428750" y="2152650"/>
            <a:ext cx="9810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6343A"/>
                </a:solidFill>
                <a:latin typeface="Helvetica Neue"/>
                <a:ea typeface="Helvetica Neue"/>
                <a:cs typeface="Helvetica Neue"/>
              </a:defRPr>
            </a:pPr>
            <a:r>
              <a:rPr sz="1950" b="0">
                <a:solidFill>
                  <a:srgbClr val="16343A"/>
                </a:solidFill>
                <a:latin typeface="Helvetica Neue"/>
                <a:ea typeface="Helvetica Neue"/>
                <a:cs typeface="Helvetica Neue"/>
              </a:rPr>
              <a:t>Finish routed timing and DRC, create the custom AFI, run the full</a:t>
            </a:r>
          </a:p>
          <a:p xmlns:a="http://schemas.openxmlformats.org/drawingml/2006/main">
            <a:pPr algn="l">
              <a:defRPr sz="1950" b="0">
                <a:solidFill>
                  <a:srgbClr val="16343A"/>
                </a:solidFill>
                <a:latin typeface="Helvetica Neue"/>
                <a:ea typeface="Helvetica Neue"/>
                <a:cs typeface="Helvetica Neue"/>
              </a:defRPr>
            </a:pPr>
            <a:r>
              <a:rPr sz="1950" b="0">
                <a:solidFill>
                  <a:srgbClr val="16343A"/>
                </a:solidFill>
                <a:latin typeface="Helvetica Neue"/>
                <a:ea typeface="Helvetica Neue"/>
                <a:cs typeface="Helvetica Neue"/>
              </a:rPr>
              <a:t>396 + 6 fixture with image hashes, then review PR #2.</a:t>
            </a:r>
          </a:p>
        </p:txBody>
      </p:sp>
      <p:sp>
        <p:nvSpPr>
          <p:cNvPr id="8" name="next2-number">
            <a:extLst xmlns:a="http://schemas.openxmlformats.org/drawingml/2006/main">
              <a:ext uri="{FF2B5EF4-FFF2-40B4-BE49-F238E27FC236}">
                <a16:creationId xmlns:a16="http://schemas.microsoft.com/office/drawing/2014/main" id="{3515B24E-CE62-414B-93F1-256EEC102283}"/>
              </a:ext>
            </a:extLst>
          </p:cNvPr>
          <p:cNvSpPr>
            <a:spLocks xmlns:a="http://schemas.openxmlformats.org/drawingml/2006/main" noGrp="1"/>
          </p:cNvSpPr>
          <p:nvPr/>
        </p:nvSpPr>
        <p:spPr>
          <a:xfrm xmlns:a="http://schemas.openxmlformats.org/drawingml/2006/main">
            <a:off x="609600" y="3209925"/>
            <a:ext cx="742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76B70"/>
                </a:solidFill>
                <a:latin typeface="Helvetica Neue"/>
                <a:ea typeface="Helvetica Neue"/>
                <a:cs typeface="Helvetica Neue"/>
              </a:defRPr>
            </a:pPr>
            <a:r>
              <a:rPr sz="2400" b="1">
                <a:solidFill>
                  <a:srgbClr val="076B70"/>
                </a:solidFill>
                <a:latin typeface="Helvetica Neue"/>
                <a:ea typeface="Helvetica Neue"/>
                <a:cs typeface="Helvetica Neue"/>
              </a:rPr>
              <a:t>02</a:t>
            </a:r>
          </a:p>
        </p:txBody>
      </p:sp>
      <p:sp>
        <p:nvSpPr>
          <p:cNvPr id="9" name="next2-head">
            <a:extLst xmlns:a="http://schemas.openxmlformats.org/drawingml/2006/main">
              <a:ext uri="{FF2B5EF4-FFF2-40B4-BE49-F238E27FC236}">
                <a16:creationId xmlns:a16="http://schemas.microsoft.com/office/drawing/2014/main" id="{EF5EBC23-1517-4960-95A4-6AEED3A1B09E}"/>
              </a:ext>
            </a:extLst>
          </p:cNvPr>
          <p:cNvSpPr>
            <a:spLocks xmlns:a="http://schemas.openxmlformats.org/drawingml/2006/main" noGrp="1"/>
          </p:cNvSpPr>
          <p:nvPr/>
        </p:nvSpPr>
        <p:spPr>
          <a:xfrm xmlns:a="http://schemas.openxmlformats.org/drawingml/2006/main">
            <a:off x="1428750" y="3152775"/>
            <a:ext cx="9810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6343A"/>
                </a:solidFill>
                <a:latin typeface="Helvetica Neue"/>
                <a:ea typeface="Helvetica Neue"/>
                <a:cs typeface="Helvetica Neue"/>
              </a:defRPr>
            </a:pPr>
            <a:r>
              <a:rPr sz="2400" b="1">
                <a:solidFill>
                  <a:srgbClr val="16343A"/>
                </a:solidFill>
                <a:latin typeface="Helvetica Neue"/>
                <a:ea typeface="Helvetica Neue"/>
                <a:cs typeface="Helvetica Neue"/>
              </a:rPr>
              <a:t>Freeze the 27B reference and array interfaces</a:t>
            </a:r>
          </a:p>
        </p:txBody>
      </p:sp>
      <p:sp>
        <p:nvSpPr>
          <p:cNvPr id="10" name="next2-body">
            <a:extLst xmlns:a="http://schemas.openxmlformats.org/drawingml/2006/main">
              <a:ext uri="{FF2B5EF4-FFF2-40B4-BE49-F238E27FC236}">
                <a16:creationId xmlns:a16="http://schemas.microsoft.com/office/drawing/2014/main" id="{8E088D6B-E64A-428D-8F09-27E5FA1C16B2}"/>
              </a:ext>
            </a:extLst>
          </p:cNvPr>
          <p:cNvSpPr>
            <a:spLocks xmlns:a="http://schemas.openxmlformats.org/drawingml/2006/main" noGrp="1"/>
          </p:cNvSpPr>
          <p:nvPr/>
        </p:nvSpPr>
        <p:spPr>
          <a:xfrm xmlns:a="http://schemas.openxmlformats.org/drawingml/2006/main">
            <a:off x="1428750" y="3657600"/>
            <a:ext cx="9810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6343A"/>
                </a:solidFill>
                <a:latin typeface="Helvetica Neue"/>
                <a:ea typeface="Helvetica Neue"/>
                <a:cs typeface="Helvetica Neue"/>
              </a:defRPr>
            </a:pPr>
            <a:r>
              <a:rPr sz="1950" b="0">
                <a:solidFill>
                  <a:srgbClr val="16343A"/>
                </a:solidFill>
                <a:latin typeface="Helvetica Neue"/>
                <a:ea typeface="Helvetica Neue"/>
                <a:cs typeface="Helvetica Neue"/>
              </a:rPr>
              <a:t>Select PTQ1_0 or PQ2_0 and validate the required activation transform.</a:t>
            </a:r>
          </a:p>
          <a:p xmlns:a="http://schemas.openxmlformats.org/drawingml/2006/main">
            <a:pPr algn="l">
              <a:defRPr sz="1950" b="0">
                <a:solidFill>
                  <a:srgbClr val="16343A"/>
                </a:solidFill>
                <a:latin typeface="Helvetica Neue"/>
                <a:ea typeface="Helvetica Neue"/>
                <a:cs typeface="Helvetica Neue"/>
              </a:defRPr>
            </a:pPr>
            <a:r>
              <a:rPr sz="1950" b="0">
                <a:solidFill>
                  <a:srgbClr val="16343A"/>
                </a:solidFill>
                <a:latin typeface="Helvetica Neue"/>
                <a:ea typeface="Helvetica Neue"/>
                <a:cs typeface="Helvetica Neue"/>
              </a:rPr>
              <a:t>Agree the HBM context budget and interface owners before array RTL.</a:t>
            </a:r>
          </a:p>
        </p:txBody>
      </p:sp>
      <p:sp>
        <p:nvSpPr>
          <p:cNvPr id="11" name="gate-label">
            <a:extLst xmlns:a="http://schemas.openxmlformats.org/drawingml/2006/main">
              <a:ext uri="{FF2B5EF4-FFF2-40B4-BE49-F238E27FC236}">
                <a16:creationId xmlns:a16="http://schemas.microsoft.com/office/drawing/2014/main" id="{F3DCC208-813C-42B2-ADC0-98127B36F2DA}"/>
              </a:ext>
            </a:extLst>
          </p:cNvPr>
          <p:cNvSpPr>
            <a:spLocks xmlns:a="http://schemas.openxmlformats.org/drawingml/2006/main" noGrp="1"/>
          </p:cNvSpPr>
          <p:nvPr/>
        </p:nvSpPr>
        <p:spPr>
          <a:xfrm xmlns:a="http://schemas.openxmlformats.org/drawingml/2006/main">
            <a:off x="609600" y="488632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076B70"/>
                </a:solidFill>
                <a:latin typeface="Helvetica Neue"/>
                <a:ea typeface="Helvetica Neue"/>
                <a:cs typeface="Helvetica Neue"/>
              </a:defRPr>
            </a:pPr>
            <a:r>
              <a:rPr sz="1350" b="1">
                <a:solidFill>
                  <a:srgbClr val="076B70"/>
                </a:solidFill>
                <a:latin typeface="Helvetica Neue"/>
                <a:ea typeface="Helvetica Neue"/>
                <a:cs typeface="Helvetica Neue"/>
              </a:rPr>
              <a:t>EACH ISSUE DELIVERS</a:t>
            </a:r>
          </a:p>
        </p:txBody>
      </p:sp>
      <p:sp>
        <p:nvSpPr>
          <p:cNvPr id="12" name="gate-body">
            <a:extLst xmlns:a="http://schemas.openxmlformats.org/drawingml/2006/main">
              <a:ext uri="{FF2B5EF4-FFF2-40B4-BE49-F238E27FC236}">
                <a16:creationId xmlns:a16="http://schemas.microsoft.com/office/drawing/2014/main" id="{3123018D-A3BA-45A2-A890-1A30B1CE29BD}"/>
              </a:ext>
            </a:extLst>
          </p:cNvPr>
          <p:cNvSpPr>
            <a:spLocks xmlns:a="http://schemas.openxmlformats.org/drawingml/2006/main" noGrp="1"/>
          </p:cNvSpPr>
          <p:nvPr/>
        </p:nvSpPr>
        <p:spPr>
          <a:xfrm xmlns:a="http://schemas.openxmlformats.org/drawingml/2006/main">
            <a:off x="609600" y="523875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6343A"/>
                </a:solidFill>
                <a:latin typeface="Helvetica Neue"/>
                <a:ea typeface="Helvetica Neue"/>
                <a:cs typeface="Helvetica Neue"/>
              </a:defRPr>
            </a:pPr>
            <a:r>
              <a:rPr sz="2175" b="1">
                <a:solidFill>
                  <a:srgbClr val="16343A"/>
                </a:solidFill>
                <a:latin typeface="Helvetica Neue"/>
                <a:ea typeface="Helvetica Neue"/>
                <a:cs typeface="Helvetica Neue"/>
              </a:rPr>
              <a:t>A PR, runnable simulation, actual FPGA evidence and an attached report</a:t>
            </a:r>
          </a:p>
        </p:txBody>
      </p:sp>
      <p:sp>
        <p:nvSpPr>
          <p:cNvPr id="13" name="owner">
            <a:extLst xmlns:a="http://schemas.openxmlformats.org/drawingml/2006/main">
              <a:ext uri="{FF2B5EF4-FFF2-40B4-BE49-F238E27FC236}">
                <a16:creationId xmlns:a16="http://schemas.microsoft.com/office/drawing/2014/main" id="{E0EF255D-9B55-460A-848F-480ADCAFD9ED}"/>
              </a:ext>
            </a:extLst>
          </p:cNvPr>
          <p:cNvSpPr>
            <a:spLocks xmlns:a="http://schemas.openxmlformats.org/drawingml/2006/main" noGrp="1"/>
          </p:cNvSpPr>
          <p:nvPr/>
        </p:nvSpPr>
        <p:spPr>
          <a:xfrm xmlns:a="http://schemas.openxmlformats.org/drawingml/2006/main">
            <a:off x="609600" y="6076950"/>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66A"/>
                </a:solidFill>
                <a:latin typeface="Helvetica Neue"/>
                <a:ea typeface="Helvetica Neue"/>
                <a:cs typeface="Helvetica Neue"/>
              </a:defRPr>
            </a:pPr>
            <a:r>
              <a:rPr sz="1500" b="0">
                <a:solidFill>
                  <a:srgbClr val="52666A"/>
                </a:solidFill>
                <a:latin typeface="Helvetica Neue"/>
                <a:ea typeface="Helvetica Neue"/>
                <a:cs typeface="Helvetica Neue"/>
              </a:rPr>
              <a:t>Accountable: Rachit Tibrewal. Current fixture: 1.7B Q1_0 binary weights.</a:t>
            </a:r>
          </a:p>
        </p:txBody>
      </p:sp>
    </p:spTree>
    <p:extLst>
      <p:ext uri="{BB962C8B-B14F-4D97-AF65-F5344CB8AC3E}">
        <p14:creationId xmlns:p14="http://schemas.microsoft.com/office/powerpoint/2010/main" val="15890442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2026-09-30T17:41:52.1460000Z</dcterms:created>
  <dcterms:modified xsi:type="dcterms:W3CDTF">2026-09-30T17:41:52.1460000Z</dcterms:modified>
</coreProperties>
</file>